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</c:v>
                </c:pt>
                <c:pt idx="1">
                  <c:v>48</c:v>
                </c:pt>
                <c:pt idx="2">
                  <c:v>51</c:v>
                </c:pt>
                <c:pt idx="3">
                  <c:v>47</c:v>
                </c:pt>
                <c:pt idx="4">
                  <c:v>59</c:v>
                </c:pt>
                <c:pt idx="5">
                  <c:v>63</c:v>
                </c:pt>
                <c:pt idx="6">
                  <c:v>61</c:v>
                </c:pt>
                <c:pt idx="7">
                  <c:v>68</c:v>
                </c:pt>
                <c:pt idx="8">
                  <c:v>72</c:v>
                </c:pt>
                <c:pt idx="9">
                  <c:v>70</c:v>
                </c:pt>
                <c:pt idx="10">
                  <c:v>78</c:v>
                </c:pt>
                <c:pt idx="11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Purchases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30</c:v>
                </c:pt>
                <c:pt idx="1">
                  <c:v>35</c:v>
                </c:pt>
                <c:pt idx="2">
                  <c:v>33</c:v>
                </c:pt>
                <c:pt idx="3">
                  <c:v>38</c:v>
                </c:pt>
                <c:pt idx="4">
                  <c:v>41</c:v>
                </c:pt>
                <c:pt idx="5">
                  <c:v>44</c:v>
                </c:pt>
                <c:pt idx="6">
                  <c:v>40</c:v>
                </c:pt>
                <c:pt idx="7">
                  <c:v>47</c:v>
                </c:pt>
                <c:pt idx="8">
                  <c:v>50</c:v>
                </c:pt>
                <c:pt idx="9">
                  <c:v>49</c:v>
                </c:pt>
                <c:pt idx="10">
                  <c:v>55</c:v>
                </c:pt>
                <c:pt idx="11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B71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1225296" y="1115568"/>
            <a:ext cx="1389888" cy="0"/>
          </a:xfrm>
          <a:prstGeom prst="line">
            <a:avLst/>
          </a:prstGeom>
          <a:noFill/>
          <a:ln w="25400">
            <a:solidFill>
              <a:srgbClr val="24506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236976" y="1115568"/>
            <a:ext cx="1389888" cy="0"/>
          </a:xfrm>
          <a:prstGeom prst="line">
            <a:avLst/>
          </a:prstGeom>
          <a:noFill/>
          <a:ln w="25400">
            <a:solidFill>
              <a:srgbClr val="24506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248656" y="1115568"/>
            <a:ext cx="1389888" cy="0"/>
          </a:xfrm>
          <a:prstGeom prst="line">
            <a:avLst/>
          </a:prstGeom>
          <a:noFill/>
          <a:ln w="25400">
            <a:solidFill>
              <a:srgbClr val="24506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260336" y="1115568"/>
            <a:ext cx="1389888" cy="0"/>
          </a:xfrm>
          <a:prstGeom prst="line">
            <a:avLst/>
          </a:prstGeom>
          <a:noFill/>
          <a:ln w="25400">
            <a:solidFill>
              <a:srgbClr val="24506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272016" y="1115568"/>
            <a:ext cx="1389888" cy="0"/>
          </a:xfrm>
          <a:prstGeom prst="line">
            <a:avLst/>
          </a:prstGeom>
          <a:noFill/>
          <a:ln w="25400">
            <a:solidFill>
              <a:srgbClr val="24506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14400" y="9601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96012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9601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96012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0" y="9601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0" y="96012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FINAL-YEAR GRADUATION PROJECT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542032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Inflow</a:t>
            </a:r>
            <a:endParaRPr lang="en-US" sz="9600" dirty="0"/>
          </a:p>
        </p:txBody>
      </p:sp>
      <p:sp>
        <p:nvSpPr>
          <p:cNvPr id="17" name="Text 15"/>
          <p:cNvSpPr/>
          <p:nvPr/>
        </p:nvSpPr>
        <p:spPr>
          <a:xfrm>
            <a:off x="128016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Supply-Chain &amp; Multi-Warehouse Inventory Management System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27448" y="4800600"/>
            <a:ext cx="2743200" cy="0"/>
          </a:xfrm>
          <a:prstGeom prst="line">
            <a:avLst/>
          </a:prstGeom>
          <a:noFill/>
          <a:ln w="19050">
            <a:solidFill>
              <a:srgbClr val="2450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Ashraf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   ·   Spring Boot 4 / Java 21   ·   PostgreSQL   ·  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Agenda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0020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984248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162007"/>
            <a:ext cx="302849" cy="3028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1892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Introduction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737360" y="231343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objectives, scope &amp; system overview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19672" y="160020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9672" y="160020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2"/>
          <p:cNvSpPr/>
          <p:nvPr/>
        </p:nvSpPr>
        <p:spPr>
          <a:xfrm>
            <a:off x="6812280" y="1984248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039" y="2162007"/>
            <a:ext cx="302849" cy="30284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08392" y="1892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Architecture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708392" y="231343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tech stack, frontend &amp; backend layers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3182112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3182112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7"/>
          <p:cNvSpPr/>
          <p:nvPr/>
        </p:nvSpPr>
        <p:spPr>
          <a:xfrm>
            <a:off x="841248" y="356616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07" y="3743919"/>
            <a:ext cx="302849" cy="3028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73736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Security &amp; Access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737360" y="389534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and role-based access control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519672" y="3182112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19672" y="3182112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Shape 22"/>
          <p:cNvSpPr/>
          <p:nvPr/>
        </p:nvSpPr>
        <p:spPr>
          <a:xfrm>
            <a:off x="6812280" y="356616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039" y="3743919"/>
            <a:ext cx="302849" cy="30284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708392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Functional Modules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7708392" y="389534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stock, sales, purchasing, returns, reports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4764024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548640" y="4764024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Shape 27"/>
          <p:cNvSpPr/>
          <p:nvPr/>
        </p:nvSpPr>
        <p:spPr>
          <a:xfrm>
            <a:off x="841248" y="5148072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007" y="5325831"/>
            <a:ext cx="302849" cy="302849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737360" y="5056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Engineering &amp; Delivery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1737360" y="547725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testing, CI/CD and deployment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6519672" y="4764024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519672" y="4764024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Shape 32"/>
          <p:cNvSpPr/>
          <p:nvPr/>
        </p:nvSpPr>
        <p:spPr>
          <a:xfrm>
            <a:off x="6812280" y="5148072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0039" y="5325831"/>
            <a:ext cx="302849" cy="302849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708392" y="5056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Reflection</a:t>
            </a:r>
            <a:endParaRPr lang="en-US" sz="1700" dirty="0"/>
          </a:p>
        </p:txBody>
      </p:sp>
      <p:sp>
        <p:nvSpPr>
          <p:cNvPr id="42" name="Text 34"/>
          <p:cNvSpPr/>
          <p:nvPr/>
        </p:nvSpPr>
        <p:spPr>
          <a:xfrm>
            <a:off x="7708392" y="547725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future work and conclusion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distribution businesses run their warehouses on spreadsheets, paper logs and disconnected tools — which breaks down as volume and locations scale.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64008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5420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695103"/>
            <a:ext cx="260787" cy="26078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" y="32004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real-time stock visibility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4672" y="3511296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across multiple warehouses are never accurate at the same moment, causing stock-outs and dead stock.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4288536" y="228600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88536" y="2286000"/>
            <a:ext cx="64008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4544568" y="25420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639" y="2695103"/>
            <a:ext cx="260787" cy="2607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44568" y="32004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Manual, error-prone processes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44568" y="3511296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purchases, transfers and returns are recorded by hand, so mistakes and mismatches are common.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8028432" y="228600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28432" y="2286000"/>
            <a:ext cx="64008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18"/>
          <p:cNvSpPr/>
          <p:nvPr/>
        </p:nvSpPr>
        <p:spPr>
          <a:xfrm>
            <a:off x="8284464" y="25420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535" y="2695103"/>
            <a:ext cx="260787" cy="2607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84464" y="32004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 access control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284464" y="3511296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shares the same access — no separation between admins, managers and warehouse staff.</a:t>
            </a:r>
            <a:endParaRPr lang="en-US" sz="1030" dirty="0"/>
          </a:p>
        </p:txBody>
      </p:sp>
      <p:sp>
        <p:nvSpPr>
          <p:cNvPr id="26" name="Shape 21"/>
          <p:cNvSpPr/>
          <p:nvPr/>
        </p:nvSpPr>
        <p:spPr>
          <a:xfrm>
            <a:off x="548640" y="4215384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4215384"/>
            <a:ext cx="64008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3"/>
          <p:cNvSpPr/>
          <p:nvPr/>
        </p:nvSpPr>
        <p:spPr>
          <a:xfrm>
            <a:off x="804672" y="44714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743" y="4624487"/>
            <a:ext cx="260787" cy="26078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04672" y="5129784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audit trail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804672" y="544068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stock or money changes, there is no reliable record of who did what, when, or why.</a:t>
            </a:r>
            <a:endParaRPr lang="en-US" sz="1030" dirty="0"/>
          </a:p>
        </p:txBody>
      </p:sp>
      <p:sp>
        <p:nvSpPr>
          <p:cNvPr id="32" name="Shape 26"/>
          <p:cNvSpPr/>
          <p:nvPr/>
        </p:nvSpPr>
        <p:spPr>
          <a:xfrm>
            <a:off x="4288536" y="4215384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88536" y="4215384"/>
            <a:ext cx="64008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Shape 28"/>
          <p:cNvSpPr/>
          <p:nvPr/>
        </p:nvSpPr>
        <p:spPr>
          <a:xfrm>
            <a:off x="4544568" y="44714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639" y="4624487"/>
            <a:ext cx="260787" cy="260787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544568" y="5129784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is slow &amp; reactive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4544568" y="544068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require manually compiling data, so decisions are made too late to matter.</a:t>
            </a:r>
            <a:endParaRPr lang="en-US" sz="1030" dirty="0"/>
          </a:p>
        </p:txBody>
      </p:sp>
      <p:sp>
        <p:nvSpPr>
          <p:cNvPr id="38" name="Shape 31"/>
          <p:cNvSpPr/>
          <p:nvPr/>
        </p:nvSpPr>
        <p:spPr>
          <a:xfrm>
            <a:off x="8028432" y="4215384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028432" y="4215384"/>
            <a:ext cx="64008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Shape 33"/>
          <p:cNvSpPr/>
          <p:nvPr/>
        </p:nvSpPr>
        <p:spPr>
          <a:xfrm>
            <a:off x="8284464" y="44714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7535" y="4624487"/>
            <a:ext cx="260787" cy="260787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284464" y="5129784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Missed low-stock alerts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8284464" y="544068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warns the team before an item runs out, so reordering is always last-minute.</a:t>
            </a:r>
            <a:endParaRPr lang="en-US" sz="10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single, secure, web-based platform that gives a distribution business end-to-end control of its inventory and the money that flows with it.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5935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94560"/>
            <a:ext cx="64008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4688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617013"/>
            <a:ext cx="252374" cy="2523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57860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Centralise inventory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04672" y="316382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product across every warehouse from one source of truth.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88536" y="2194560"/>
            <a:ext cx="35935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88536" y="2194560"/>
            <a:ext cx="64008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3"/>
          <p:cNvSpPr/>
          <p:nvPr/>
        </p:nvSpPr>
        <p:spPr>
          <a:xfrm>
            <a:off x="4544568" y="24688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2617013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48656" y="257860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Digitise operations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4544568" y="316382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sales, purchasing, transfers and returns as guided, validated workflows.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028432" y="2194560"/>
            <a:ext cx="35935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28432" y="2194560"/>
            <a:ext cx="64008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18"/>
          <p:cNvSpPr/>
          <p:nvPr/>
        </p:nvSpPr>
        <p:spPr>
          <a:xfrm>
            <a:off x="8284464" y="24688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2617013"/>
            <a:ext cx="252374" cy="25237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88552" y="257860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Enforce security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284464" y="3163824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with JWT authentication and granular role-based permissions.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4078224"/>
            <a:ext cx="35935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4078224"/>
            <a:ext cx="64008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3"/>
          <p:cNvSpPr/>
          <p:nvPr/>
        </p:nvSpPr>
        <p:spPr>
          <a:xfrm>
            <a:off x="804672" y="435254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4500677"/>
            <a:ext cx="252374" cy="25237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08760" y="446227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in accountability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804672" y="5047488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 immutable audit trail and stock-movement history for every change.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288536" y="4078224"/>
            <a:ext cx="35935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88536" y="4078224"/>
            <a:ext cx="64008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28"/>
          <p:cNvSpPr/>
          <p:nvPr/>
        </p:nvSpPr>
        <p:spPr>
          <a:xfrm>
            <a:off x="4544568" y="435254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701" y="4500677"/>
            <a:ext cx="252374" cy="25237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248656" y="446227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decisions</a:t>
            </a:r>
            <a:endParaRPr lang="en-US" sz="1450" dirty="0"/>
          </a:p>
        </p:txBody>
      </p:sp>
      <p:sp>
        <p:nvSpPr>
          <p:cNvPr id="37" name="Text 30"/>
          <p:cNvSpPr/>
          <p:nvPr/>
        </p:nvSpPr>
        <p:spPr>
          <a:xfrm>
            <a:off x="4544568" y="5047488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real-time KPIs and on-demand reports for management.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8028432" y="4078224"/>
            <a:ext cx="35935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028432" y="4078224"/>
            <a:ext cx="64008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Shape 33"/>
          <p:cNvSpPr/>
          <p:nvPr/>
        </p:nvSpPr>
        <p:spPr>
          <a:xfrm>
            <a:off x="8284464" y="435254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597" y="4500677"/>
            <a:ext cx="252374" cy="25237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88552" y="446227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cleanly</a:t>
            </a:r>
            <a:endParaRPr lang="en-US" sz="1450" dirty="0"/>
          </a:p>
        </p:txBody>
      </p:sp>
      <p:sp>
        <p:nvSpPr>
          <p:cNvPr id="43" name="Text 35"/>
          <p:cNvSpPr/>
          <p:nvPr/>
        </p:nvSpPr>
        <p:spPr>
          <a:xfrm>
            <a:off x="8284464" y="5047488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layered, modular architecture that is easy to extend and maintain.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&amp; Target Users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uses Inflow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394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20240"/>
            <a:ext cx="64008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17627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329343"/>
            <a:ext cx="260787" cy="26078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36192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Administrator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36192" y="2423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roles and oversight — owns reporting and the audit log.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48640" y="3127248"/>
            <a:ext cx="5394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127248"/>
            <a:ext cx="64008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33832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11" y="3536351"/>
            <a:ext cx="260787" cy="2607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36192" y="33101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Manager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536192" y="36301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catalog, suppliers, warehouses and stock; approves orders &amp; transfers.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548640" y="4334256"/>
            <a:ext cx="5394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4334256"/>
            <a:ext cx="64008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" y="4590288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11" y="4743359"/>
            <a:ext cx="260787" cy="2607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36192" y="45171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Warehouse Manager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536192" y="48371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customers and day-to-day sales, returns and stock requests on the floor.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6217920" y="192024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17920" y="1920240"/>
            <a:ext cx="64008" cy="1691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Text 23"/>
          <p:cNvSpPr/>
          <p:nvPr/>
        </p:nvSpPr>
        <p:spPr>
          <a:xfrm>
            <a:off x="6492240" y="20848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SCOPE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492240" y="239572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inventory &amp; stock movements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purchasing, returns &amp; internal transfers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audit logs &amp; notifications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ten on-demand report types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217920" y="3712464"/>
            <a:ext cx="539496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217920" y="3712464"/>
            <a:ext cx="64008" cy="1243584"/>
          </a:xfrm>
          <a:prstGeom prst="rect">
            <a:avLst/>
          </a:prstGeom>
          <a:solidFill>
            <a:srgbClr val="5B7185"/>
          </a:solidFill>
          <a:ln/>
        </p:spPr>
      </p:sp>
      <p:sp>
        <p:nvSpPr>
          <p:cNvPr id="32" name="Text 27"/>
          <p:cNvSpPr/>
          <p:nvPr/>
        </p:nvSpPr>
        <p:spPr>
          <a:xfrm>
            <a:off x="6492240" y="3858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 OF SCOPE (this phase)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492240" y="415137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 &amp; barcode hardware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accounting / e-commerce integrations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supplier procurement / EDI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Overview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is a production-style web application that manages the full flow of goods — from receiving supplier orders, through multi-warehouse storage, to customer sales, returns and reporting — under one secure, role-aware interface.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entities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95728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395728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42816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242816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89904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089904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36992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7936992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types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78408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978408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10698480" cy="0"/>
          </a:xfrm>
          <a:prstGeom prst="line">
            <a:avLst/>
          </a:prstGeom>
          <a:noFill/>
          <a:ln w="12700">
            <a:solidFill>
              <a:srgbClr val="245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43400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86" y="4506346"/>
            <a:ext cx="277612" cy="2776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25880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source of truth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5029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product, price and quantity lives in a single normalised PostgreSQL model.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251960" y="4343400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906" y="4506346"/>
            <a:ext cx="277612" cy="27761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029200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by design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251960" y="5029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sessions, BCrypt hashing and permission checks enforced on the server.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955280" y="4343400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226" y="4506346"/>
            <a:ext cx="277612" cy="27761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732520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 on demand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7955280" y="5029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KPIs plus exportable operational and financial reports.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93592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64008" cy="4663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810512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83334"/>
            <a:ext cx="294437" cy="294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1938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761488"/>
            <a:ext cx="91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1024128" y="266090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Router, SSR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3182112"/>
            <a:ext cx="91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1024128" y="308152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UI components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602736"/>
            <a:ext cx="91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1024128" y="35021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Type safety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4023360"/>
            <a:ext cx="91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1024128" y="39227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Styling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443984"/>
            <a:ext cx="91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1024128" y="43434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Server state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22960" y="4864608"/>
            <a:ext cx="91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1024128" y="476402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Client state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22960" y="5285232"/>
            <a:ext cx="91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2"/>
          <p:cNvSpPr/>
          <p:nvPr/>
        </p:nvSpPr>
        <p:spPr>
          <a:xfrm>
            <a:off x="1024128" y="51846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RHF + Zod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Forms &amp; validation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2960" y="5705856"/>
            <a:ext cx="91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1024128" y="56052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visualisation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297680" y="1554480"/>
            <a:ext cx="3593592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297680" y="1554480"/>
            <a:ext cx="64008" cy="4663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Shape 27"/>
          <p:cNvSpPr/>
          <p:nvPr/>
        </p:nvSpPr>
        <p:spPr>
          <a:xfrm>
            <a:off x="4572000" y="18105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822" y="1983334"/>
            <a:ext cx="294437" cy="294437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349240" y="1938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4572000" y="2761488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0"/>
          <p:cNvSpPr/>
          <p:nvPr/>
        </p:nvSpPr>
        <p:spPr>
          <a:xfrm>
            <a:off x="4773168" y="266090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Language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72000" y="3182112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2"/>
          <p:cNvSpPr/>
          <p:nvPr/>
        </p:nvSpPr>
        <p:spPr>
          <a:xfrm>
            <a:off x="4773168" y="308152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Application framework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572000" y="3602736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34"/>
          <p:cNvSpPr/>
          <p:nvPr/>
        </p:nvSpPr>
        <p:spPr>
          <a:xfrm>
            <a:off x="4773168" y="35021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Auth &amp; RBAC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4572000" y="4023360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6"/>
          <p:cNvSpPr/>
          <p:nvPr/>
        </p:nvSpPr>
        <p:spPr>
          <a:xfrm>
            <a:off x="4773168" y="39227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ORM mapping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4572000" y="4443984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2" name="Text 38"/>
          <p:cNvSpPr/>
          <p:nvPr/>
        </p:nvSpPr>
        <p:spPr>
          <a:xfrm>
            <a:off x="4773168" y="43434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Schema migrations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4572000" y="4864608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4" name="Text 40"/>
          <p:cNvSpPr/>
          <p:nvPr/>
        </p:nvSpPr>
        <p:spPr>
          <a:xfrm>
            <a:off x="4773168" y="476402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 &amp; dependencies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4572000" y="5285232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6" name="Text 42"/>
          <p:cNvSpPr/>
          <p:nvPr/>
        </p:nvSpPr>
        <p:spPr>
          <a:xfrm>
            <a:off x="4773168" y="51846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(HMAC)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Stateless tokens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4572000" y="5705856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8" name="Text 44"/>
          <p:cNvSpPr/>
          <p:nvPr/>
        </p:nvSpPr>
        <p:spPr>
          <a:xfrm>
            <a:off x="4773168" y="56052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Testing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8046720" y="1554480"/>
            <a:ext cx="3593592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8046720" y="1554480"/>
            <a:ext cx="64008" cy="4663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1" name="Shape 47"/>
          <p:cNvSpPr/>
          <p:nvPr/>
        </p:nvSpPr>
        <p:spPr>
          <a:xfrm>
            <a:off x="8321040" y="1810512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862" y="1983334"/>
            <a:ext cx="294437" cy="294437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9098280" y="1938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DevOps</a:t>
            </a:r>
            <a:endParaRPr lang="en-US" sz="1600" dirty="0"/>
          </a:p>
        </p:txBody>
      </p:sp>
      <p:sp>
        <p:nvSpPr>
          <p:cNvPr id="54" name="Shape 49"/>
          <p:cNvSpPr/>
          <p:nvPr/>
        </p:nvSpPr>
        <p:spPr>
          <a:xfrm>
            <a:off x="8321040" y="2761488"/>
            <a:ext cx="9144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5" name="Text 50"/>
          <p:cNvSpPr/>
          <p:nvPr/>
        </p:nvSpPr>
        <p:spPr>
          <a:xfrm>
            <a:off x="8522208" y="266090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15+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Relational database</a:t>
            </a:r>
            <a:endParaRPr lang="en-US" sz="1100" dirty="0"/>
          </a:p>
        </p:txBody>
      </p:sp>
      <p:sp>
        <p:nvSpPr>
          <p:cNvPr id="56" name="Shape 51"/>
          <p:cNvSpPr/>
          <p:nvPr/>
        </p:nvSpPr>
        <p:spPr>
          <a:xfrm>
            <a:off x="8321040" y="3182112"/>
            <a:ext cx="9144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7" name="Text 52"/>
          <p:cNvSpPr/>
          <p:nvPr/>
        </p:nvSpPr>
        <p:spPr>
          <a:xfrm>
            <a:off x="8522208" y="308152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Containerisation</a:t>
            </a:r>
            <a:endParaRPr lang="en-US" sz="1100" dirty="0"/>
          </a:p>
        </p:txBody>
      </p:sp>
      <p:sp>
        <p:nvSpPr>
          <p:cNvPr id="58" name="Shape 53"/>
          <p:cNvSpPr/>
          <p:nvPr/>
        </p:nvSpPr>
        <p:spPr>
          <a:xfrm>
            <a:off x="8321040" y="3602736"/>
            <a:ext cx="9144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9" name="Text 54"/>
          <p:cNvSpPr/>
          <p:nvPr/>
        </p:nvSpPr>
        <p:spPr>
          <a:xfrm>
            <a:off x="8522208" y="35021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Local orchestration</a:t>
            </a:r>
            <a:endParaRPr lang="en-US" sz="1100" dirty="0"/>
          </a:p>
        </p:txBody>
      </p:sp>
      <p:sp>
        <p:nvSpPr>
          <p:cNvPr id="60" name="Shape 55"/>
          <p:cNvSpPr/>
          <p:nvPr/>
        </p:nvSpPr>
        <p:spPr>
          <a:xfrm>
            <a:off x="8321040" y="4023360"/>
            <a:ext cx="9144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1" name="Text 56"/>
          <p:cNvSpPr/>
          <p:nvPr/>
        </p:nvSpPr>
        <p:spPr>
          <a:xfrm>
            <a:off x="8522208" y="39227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CI pipeline</a:t>
            </a:r>
            <a:endParaRPr lang="en-US" sz="1100" dirty="0"/>
          </a:p>
        </p:txBody>
      </p:sp>
      <p:sp>
        <p:nvSpPr>
          <p:cNvPr id="62" name="Shape 57"/>
          <p:cNvSpPr/>
          <p:nvPr/>
        </p:nvSpPr>
        <p:spPr>
          <a:xfrm>
            <a:off x="8321040" y="4443984"/>
            <a:ext cx="9144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3" name="Text 58"/>
          <p:cNvSpPr/>
          <p:nvPr/>
        </p:nvSpPr>
        <p:spPr>
          <a:xfrm>
            <a:off x="8522208" y="43434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Frontend tests</a:t>
            </a:r>
            <a:endParaRPr lang="en-US" sz="1100" dirty="0"/>
          </a:p>
        </p:txBody>
      </p:sp>
      <p:sp>
        <p:nvSpPr>
          <p:cNvPr id="64" name="Shape 59"/>
          <p:cNvSpPr/>
          <p:nvPr/>
        </p:nvSpPr>
        <p:spPr>
          <a:xfrm>
            <a:off x="8321040" y="4864608"/>
            <a:ext cx="9144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5" name="Text 60"/>
          <p:cNvSpPr/>
          <p:nvPr/>
        </p:nvSpPr>
        <p:spPr>
          <a:xfrm>
            <a:off x="8522208" y="476402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Linting</a:t>
            </a:r>
            <a:endParaRPr lang="en-US" sz="1100" dirty="0"/>
          </a:p>
        </p:txBody>
      </p:sp>
      <p:sp>
        <p:nvSpPr>
          <p:cNvPr id="66" name="Shape 61"/>
          <p:cNvSpPr/>
          <p:nvPr/>
        </p:nvSpPr>
        <p:spPr>
          <a:xfrm>
            <a:off x="8321040" y="5285232"/>
            <a:ext cx="9144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7" name="Text 62"/>
          <p:cNvSpPr/>
          <p:nvPr/>
        </p:nvSpPr>
        <p:spPr>
          <a:xfrm>
            <a:off x="8522208" y="51846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HTTP client</a:t>
            </a:r>
            <a:endParaRPr lang="en-US" sz="1100" dirty="0"/>
          </a:p>
        </p:txBody>
      </p:sp>
      <p:sp>
        <p:nvSpPr>
          <p:cNvPr id="68" name="Shape 63"/>
          <p:cNvSpPr/>
          <p:nvPr/>
        </p:nvSpPr>
        <p:spPr>
          <a:xfrm>
            <a:off x="8321040" y="5705856"/>
            <a:ext cx="9144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9" name="Text 64"/>
          <p:cNvSpPr/>
          <p:nvPr/>
        </p:nvSpPr>
        <p:spPr>
          <a:xfrm>
            <a:off x="8522208" y="56052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/ Caddy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Reverse proxy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decoupled client–server design: a Next.js single-page client talks to a stateless Spring Boot REST API over JWT-secured HTTP, backed by PostgreSQL.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246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64008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1760220" y="2542032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2419" y="2764231"/>
            <a:ext cx="378562" cy="37856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Tier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60120" y="39319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</a:t>
            </a:r>
            <a:endParaRPr lang="en-US" sz="10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UI</a:t>
            </a:r>
            <a:endParaRPr lang="en-US" sz="10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data hooks</a:t>
            </a:r>
            <a:endParaRPr lang="en-US" sz="10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routing &amp; guards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3813048" y="3429000"/>
            <a:ext cx="658368" cy="658368"/>
          </a:xfrm>
          <a:prstGeom prst="ellipse">
            <a:avLst/>
          </a:prstGeom>
          <a:solidFill>
            <a:srgbClr val="0B2A3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391" y="3613343"/>
            <a:ext cx="289682" cy="28968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80560" y="2286000"/>
            <a:ext cx="3246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80560" y="2286000"/>
            <a:ext cx="64008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Shape 14"/>
          <p:cNvSpPr/>
          <p:nvPr/>
        </p:nvSpPr>
        <p:spPr>
          <a:xfrm>
            <a:off x="5692140" y="2542032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39" y="2764231"/>
            <a:ext cx="378562" cy="3785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Tier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4892040" y="39319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REST API</a:t>
            </a:r>
            <a:endParaRPr lang="en-US" sz="10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</a:t>
            </a:r>
            <a:endParaRPr lang="en-US" sz="10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filter</a:t>
            </a:r>
            <a:endParaRPr lang="en-US" sz="10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DTOs, mappers &amp; validation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7744968" y="3429000"/>
            <a:ext cx="658368" cy="658368"/>
          </a:xfrm>
          <a:prstGeom prst="ellipse">
            <a:avLst/>
          </a:prstGeom>
          <a:solidFill>
            <a:srgbClr val="0B2A3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311" y="3613343"/>
            <a:ext cx="289682" cy="28968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412480" y="2286000"/>
            <a:ext cx="3246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12480" y="2286000"/>
            <a:ext cx="64008" cy="2743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Shape 20"/>
          <p:cNvSpPr/>
          <p:nvPr/>
        </p:nvSpPr>
        <p:spPr>
          <a:xfrm>
            <a:off x="9624060" y="2542032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6259" y="2764231"/>
            <a:ext cx="378562" cy="3785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59536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Tier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8823960" y="39319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relational store</a:t>
            </a:r>
            <a:endParaRPr lang="en-US" sz="10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 ORM</a:t>
            </a:r>
            <a:endParaRPr lang="en-US" sz="10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versioned migrations</a:t>
            </a:r>
            <a:endParaRPr lang="en-US" sz="10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entities, normalised schema</a:t>
            </a:r>
            <a:endParaRPr lang="en-US" sz="1080" dirty="0"/>
          </a:p>
        </p:txBody>
      </p:sp>
      <p:sp>
        <p:nvSpPr>
          <p:cNvPr id="30" name="Text 23"/>
          <p:cNvSpPr/>
          <p:nvPr/>
        </p:nvSpPr>
        <p:spPr>
          <a:xfrm>
            <a:off x="548640" y="51389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JSON  ·  Bearer JWT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8138160" y="5138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· CORS allow-listed · BCrypt at rest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Next.js App-Router project organised around a strict, repeatable data-flow pattern that keeps UI, server state and API calls cleanly separated.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src/app/(route)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route &amp; layout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99232" y="228600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383280" y="205740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205740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547872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47872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src/hooks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47872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33872" y="228600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6217920" y="205740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05740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82512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82512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API calls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68512" y="228600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052560" y="2057400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52560" y="205740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9217152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17152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217152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42900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429000"/>
            <a:ext cx="64008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786384" y="3794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3942893"/>
            <a:ext cx="252374" cy="25237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508760" y="3630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Router &amp; layouts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508760" y="399592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(auth) and (dashboard) route trees; the dashboard layout guards every protected page.</a:t>
            </a:r>
            <a:endParaRPr lang="en-US" sz="1080" dirty="0"/>
          </a:p>
        </p:txBody>
      </p:sp>
      <p:sp>
        <p:nvSpPr>
          <p:cNvPr id="37" name="Shape 34"/>
          <p:cNvSpPr/>
          <p:nvPr/>
        </p:nvSpPr>
        <p:spPr>
          <a:xfrm>
            <a:off x="6153912" y="342900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153912" y="3429000"/>
            <a:ext cx="64008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Shape 36"/>
          <p:cNvSpPr/>
          <p:nvPr/>
        </p:nvSpPr>
        <p:spPr>
          <a:xfrm>
            <a:off x="6391656" y="3794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789" y="3942893"/>
            <a:ext cx="252374" cy="252374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114032" y="3630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state with React Query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7114032" y="399592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typed hooks handle fetching, caching, pagination and cache invalidation across features.</a:t>
            </a:r>
            <a:endParaRPr lang="en-US" sz="1080" dirty="0"/>
          </a:p>
        </p:txBody>
      </p:sp>
      <p:sp>
        <p:nvSpPr>
          <p:cNvPr id="43" name="Shape 39"/>
          <p:cNvSpPr/>
          <p:nvPr/>
        </p:nvSpPr>
        <p:spPr>
          <a:xfrm>
            <a:off x="548640" y="489204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548640" y="4892040"/>
            <a:ext cx="64008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6384" y="5257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5405933"/>
            <a:ext cx="252374" cy="252374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1508760" y="5093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Forms &amp; validation</a:t>
            </a:r>
            <a:endParaRPr lang="en-US" sz="1400" dirty="0"/>
          </a:p>
        </p:txBody>
      </p:sp>
      <p:sp>
        <p:nvSpPr>
          <p:cNvPr id="48" name="Text 43"/>
          <p:cNvSpPr/>
          <p:nvPr/>
        </p:nvSpPr>
        <p:spPr>
          <a:xfrm>
            <a:off x="1508760" y="545896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with Zod schemas gives type-safe, instantly-validated data entry.</a:t>
            </a:r>
            <a:endParaRPr lang="en-US" sz="1080" dirty="0"/>
          </a:p>
        </p:txBody>
      </p:sp>
      <p:sp>
        <p:nvSpPr>
          <p:cNvPr id="49" name="Shape 44"/>
          <p:cNvSpPr/>
          <p:nvPr/>
        </p:nvSpPr>
        <p:spPr>
          <a:xfrm>
            <a:off x="6153912" y="489204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6153912" y="4892040"/>
            <a:ext cx="64008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1" name="Shape 46"/>
          <p:cNvSpPr/>
          <p:nvPr/>
        </p:nvSpPr>
        <p:spPr>
          <a:xfrm>
            <a:off x="6391656" y="5257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789" y="5405933"/>
            <a:ext cx="252374" cy="252374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7114032" y="5093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Role-aware UI</a:t>
            </a:r>
            <a:endParaRPr lang="en-US" sz="1400" dirty="0"/>
          </a:p>
        </p:txBody>
      </p:sp>
      <p:sp>
        <p:nvSpPr>
          <p:cNvPr id="54" name="Text 48"/>
          <p:cNvSpPr/>
          <p:nvPr/>
        </p:nvSpPr>
        <p:spPr>
          <a:xfrm>
            <a:off x="7114032" y="545896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permission matrix hides controls the signed-in role cannot use — the server still enforces them.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layered Spring Boot service. Each request flows down well-defined layers, and every layer has a single responsibility.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669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0312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340864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5915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5786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REST controllers — HTTP endpoints, request/response DTOs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996696" y="3017520"/>
            <a:ext cx="0" cy="118872"/>
          </a:xfrm>
          <a:prstGeom prst="line">
            <a:avLst/>
          </a:prstGeom>
          <a:noFill/>
          <a:ln w="19050">
            <a:solidFill>
              <a:srgbClr val="5B71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136392"/>
            <a:ext cx="5669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36392"/>
            <a:ext cx="64008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37413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9242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2826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611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validation &amp; transactions (16 services)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96696" y="4050792"/>
            <a:ext cx="0" cy="118872"/>
          </a:xfrm>
          <a:prstGeom prst="line">
            <a:avLst/>
          </a:prstGeom>
          <a:noFill/>
          <a:ln w="19050">
            <a:solidFill>
              <a:srgbClr val="5B718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4169664"/>
            <a:ext cx="5669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169664"/>
            <a:ext cx="64008" cy="914400"/>
          </a:xfrm>
          <a:prstGeom prst="rect">
            <a:avLst/>
          </a:prstGeom>
          <a:solidFill>
            <a:srgbClr val="0E4D6B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407408"/>
            <a:ext cx="438912" cy="438912"/>
          </a:xfrm>
          <a:prstGeom prst="ellipse">
            <a:avLst/>
          </a:prstGeom>
          <a:solidFill>
            <a:srgbClr val="0E4D6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42569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3159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46451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— 24 repositories, query methods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996696" y="5084064"/>
            <a:ext cx="0" cy="118872"/>
          </a:xfrm>
          <a:prstGeom prst="line">
            <a:avLst/>
          </a:prstGeom>
          <a:noFill/>
          <a:ln w="19050">
            <a:solidFill>
              <a:srgbClr val="5B718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5202936"/>
            <a:ext cx="5669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5202936"/>
            <a:ext cx="64008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5440680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45896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71600" y="53492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 / DB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71600" y="567842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JPA entities mapped to PostgreSQL tables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6492240" y="2103120"/>
            <a:ext cx="5120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92240" y="2103120"/>
            <a:ext cx="64008" cy="40416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Cross-cutting concerns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766560" y="2743200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880" y="2876520"/>
            <a:ext cx="227137" cy="227137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406640" y="276148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filter + Spring Security guard every endpoint.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766560" y="3401568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880" y="3534888"/>
            <a:ext cx="227137" cy="227137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7406640" y="341985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&amp; Mappers  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objects keep the API contract stable.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6766560" y="4059936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880" y="4193256"/>
            <a:ext cx="227137" cy="227137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7406640" y="407822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migrations  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versioned scripts evolve the schema reproducibly.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6766560" y="4718304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880" y="4851624"/>
            <a:ext cx="227137" cy="227137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7406640" y="473659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movements  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log audit events and stock movements automatically.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6766560" y="5376672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880" y="5509992"/>
            <a:ext cx="227137" cy="227137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7406640" y="53949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 </a:t>
            </a:r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events raise in-app notifications for users.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 &amp; Data Model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normalised PostgreSQL schema of 31 entities, evolved through 14 Flyway migrations. Junction tables model the many-to-many links between invoices, products and warehouses.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48840"/>
            <a:ext cx="64008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38658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534717"/>
            <a:ext cx="252374" cy="2523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304495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&amp; Access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3383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users, roles, users_warehouses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3383280" y="214884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83280" y="2148840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3"/>
          <p:cNvSpPr/>
          <p:nvPr/>
        </p:nvSpPr>
        <p:spPr>
          <a:xfrm>
            <a:off x="3611880" y="238658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013" y="2534717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11880" y="304495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611880" y="3383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products, categories, suppliers, customers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6217920" y="214884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2148840"/>
            <a:ext cx="64008" cy="1783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Shape 18"/>
          <p:cNvSpPr/>
          <p:nvPr/>
        </p:nvSpPr>
        <p:spPr>
          <a:xfrm>
            <a:off x="6446520" y="2386584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53" y="2534717"/>
            <a:ext cx="252374" cy="25237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46520" y="304495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Warehouses &amp; Stock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46520" y="3383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warehouses, products_warehouses, stock_movements</a:t>
            </a:r>
            <a:endParaRPr lang="en-US" sz="960" dirty="0"/>
          </a:p>
        </p:txBody>
      </p:sp>
      <p:sp>
        <p:nvSpPr>
          <p:cNvPr id="26" name="Shape 21"/>
          <p:cNvSpPr/>
          <p:nvPr/>
        </p:nvSpPr>
        <p:spPr>
          <a:xfrm>
            <a:off x="9052560" y="2148840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052560" y="2148840"/>
            <a:ext cx="64008" cy="1783080"/>
          </a:xfrm>
          <a:prstGeom prst="rect">
            <a:avLst/>
          </a:prstGeom>
          <a:solidFill>
            <a:srgbClr val="0E4D6B"/>
          </a:solidFill>
          <a:ln/>
        </p:spPr>
      </p:sp>
      <p:sp>
        <p:nvSpPr>
          <p:cNvPr id="28" name="Shape 23"/>
          <p:cNvSpPr/>
          <p:nvPr/>
        </p:nvSpPr>
        <p:spPr>
          <a:xfrm>
            <a:off x="9281160" y="2386584"/>
            <a:ext cx="548640" cy="548640"/>
          </a:xfrm>
          <a:prstGeom prst="ellipse">
            <a:avLst/>
          </a:prstGeom>
          <a:solidFill>
            <a:srgbClr val="0E4D6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293" y="2534717"/>
            <a:ext cx="252374" cy="25237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304495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&amp; Purchasing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281160" y="3383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/ purchase invoices + line items</a:t>
            </a:r>
            <a:endParaRPr lang="en-US" sz="960" dirty="0"/>
          </a:p>
        </p:txBody>
      </p:sp>
      <p:sp>
        <p:nvSpPr>
          <p:cNvPr id="32" name="Shape 26"/>
          <p:cNvSpPr/>
          <p:nvPr/>
        </p:nvSpPr>
        <p:spPr>
          <a:xfrm>
            <a:off x="548640" y="4078224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48640" y="4078224"/>
            <a:ext cx="64008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Shape 28"/>
          <p:cNvSpPr/>
          <p:nvPr/>
        </p:nvSpPr>
        <p:spPr>
          <a:xfrm>
            <a:off x="777240" y="43159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4464101"/>
            <a:ext cx="252374" cy="25237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77240" y="497433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&amp; Transfers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77240" y="5312664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invoices, internal invoices</a:t>
            </a:r>
            <a:endParaRPr lang="en-US" sz="960" dirty="0"/>
          </a:p>
        </p:txBody>
      </p:sp>
      <p:sp>
        <p:nvSpPr>
          <p:cNvPr id="38" name="Shape 31"/>
          <p:cNvSpPr/>
          <p:nvPr/>
        </p:nvSpPr>
        <p:spPr>
          <a:xfrm>
            <a:off x="3383280" y="4078224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3383280" y="4078224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Shape 33"/>
          <p:cNvSpPr/>
          <p:nvPr/>
        </p:nvSpPr>
        <p:spPr>
          <a:xfrm>
            <a:off x="3611880" y="43159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013" y="4464101"/>
            <a:ext cx="252374" cy="25237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3611880" y="497433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Requests &amp; Workflow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3611880" y="5312664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stock_edit_requests, warehouse_stock_requests</a:t>
            </a:r>
            <a:endParaRPr lang="en-US" sz="960" dirty="0"/>
          </a:p>
        </p:txBody>
      </p:sp>
      <p:sp>
        <p:nvSpPr>
          <p:cNvPr id="44" name="Shape 36"/>
          <p:cNvSpPr/>
          <p:nvPr/>
        </p:nvSpPr>
        <p:spPr>
          <a:xfrm>
            <a:off x="6217920" y="4078224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6217920" y="4078224"/>
            <a:ext cx="64008" cy="1783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6" name="Shape 38"/>
          <p:cNvSpPr/>
          <p:nvPr/>
        </p:nvSpPr>
        <p:spPr>
          <a:xfrm>
            <a:off x="6446520" y="4315968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4653" y="4464101"/>
            <a:ext cx="252374" cy="25237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446520" y="497433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 &amp; Payments</a:t>
            </a:r>
            <a:endParaRPr lang="en-US" sz="1300" dirty="0"/>
          </a:p>
        </p:txBody>
      </p:sp>
      <p:sp>
        <p:nvSpPr>
          <p:cNvPr id="49" name="Text 40"/>
          <p:cNvSpPr/>
          <p:nvPr/>
        </p:nvSpPr>
        <p:spPr>
          <a:xfrm>
            <a:off x="6446520" y="5312664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customers, payments, balances</a:t>
            </a:r>
            <a:endParaRPr lang="en-US" sz="960" dirty="0"/>
          </a:p>
        </p:txBody>
      </p:sp>
      <p:sp>
        <p:nvSpPr>
          <p:cNvPr id="50" name="Shape 41"/>
          <p:cNvSpPr/>
          <p:nvPr/>
        </p:nvSpPr>
        <p:spPr>
          <a:xfrm>
            <a:off x="9052560" y="4078224"/>
            <a:ext cx="2715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9052560" y="4078224"/>
            <a:ext cx="64008" cy="1783080"/>
          </a:xfrm>
          <a:prstGeom prst="rect">
            <a:avLst/>
          </a:prstGeom>
          <a:solidFill>
            <a:srgbClr val="0E4D6B"/>
          </a:solidFill>
          <a:ln/>
        </p:spPr>
      </p:sp>
      <p:sp>
        <p:nvSpPr>
          <p:cNvPr id="52" name="Shape 43"/>
          <p:cNvSpPr/>
          <p:nvPr/>
        </p:nvSpPr>
        <p:spPr>
          <a:xfrm>
            <a:off x="9281160" y="4315968"/>
            <a:ext cx="548640" cy="548640"/>
          </a:xfrm>
          <a:prstGeom prst="ellipse">
            <a:avLst/>
          </a:prstGeom>
          <a:solidFill>
            <a:srgbClr val="0E4D6B"/>
          </a:solidFill>
          <a:ln/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293" y="4464101"/>
            <a:ext cx="252374" cy="252374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9281160" y="497433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Oversight</a:t>
            </a:r>
            <a:endParaRPr lang="en-US" sz="1300" dirty="0"/>
          </a:p>
        </p:txBody>
      </p:sp>
      <p:sp>
        <p:nvSpPr>
          <p:cNvPr id="55" name="Text 45"/>
          <p:cNvSpPr/>
          <p:nvPr/>
        </p:nvSpPr>
        <p:spPr>
          <a:xfrm>
            <a:off x="9281160" y="5312664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audit_logs, notifications</a:t>
            </a:r>
            <a:endParaRPr lang="en-US" sz="960" dirty="0"/>
          </a:p>
        </p:txBody>
      </p:sp>
      <p:sp>
        <p:nvSpPr>
          <p:cNvPr id="56" name="Text 46"/>
          <p:cNvSpPr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integrity, check constraints and unique keys are enforced at the database level — not just in application code.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&amp; Security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 JWT authentication flow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26151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7452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208483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2223089"/>
            <a:ext cx="235549" cy="23554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1396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Login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68096" y="26974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email + password to /auth/login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3127248" y="210312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3547872" y="1874520"/>
            <a:ext cx="26151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47872" y="187452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4"/>
          <p:cNvSpPr/>
          <p:nvPr/>
        </p:nvSpPr>
        <p:spPr>
          <a:xfrm>
            <a:off x="3767328" y="208483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585" y="2223089"/>
            <a:ext cx="235549" cy="23554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16552" y="21396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Verify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3767328" y="26974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checks the BCrypt password hash (strength 12)</a:t>
            </a:r>
            <a:endParaRPr lang="en-US" sz="1030" dirty="0"/>
          </a:p>
        </p:txBody>
      </p:sp>
      <p:sp>
        <p:nvSpPr>
          <p:cNvPr id="21" name="Text 17"/>
          <p:cNvSpPr/>
          <p:nvPr/>
        </p:nvSpPr>
        <p:spPr>
          <a:xfrm>
            <a:off x="6126480" y="210312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18"/>
          <p:cNvSpPr/>
          <p:nvPr/>
        </p:nvSpPr>
        <p:spPr>
          <a:xfrm>
            <a:off x="6547104" y="1874520"/>
            <a:ext cx="26151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47104" y="187452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0"/>
          <p:cNvSpPr/>
          <p:nvPr/>
        </p:nvSpPr>
        <p:spPr>
          <a:xfrm>
            <a:off x="6766560" y="208483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817" y="2223089"/>
            <a:ext cx="235549" cy="23554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415784" y="21396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Issue JWT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766560" y="26974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HMAC token is returned to the client</a:t>
            </a:r>
            <a:endParaRPr lang="en-US" sz="1030" dirty="0"/>
          </a:p>
        </p:txBody>
      </p:sp>
      <p:sp>
        <p:nvSpPr>
          <p:cNvPr id="28" name="Text 23"/>
          <p:cNvSpPr/>
          <p:nvPr/>
        </p:nvSpPr>
        <p:spPr>
          <a:xfrm>
            <a:off x="9125712" y="210312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29" name="Shape 24"/>
          <p:cNvSpPr/>
          <p:nvPr/>
        </p:nvSpPr>
        <p:spPr>
          <a:xfrm>
            <a:off x="9546336" y="1874520"/>
            <a:ext cx="26151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546336" y="187452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6"/>
          <p:cNvSpPr/>
          <p:nvPr/>
        </p:nvSpPr>
        <p:spPr>
          <a:xfrm>
            <a:off x="9765792" y="208483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4049" y="2223089"/>
            <a:ext cx="235549" cy="23554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415016" y="21396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Authorise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9765792" y="26974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carries the token; a filter validates it</a:t>
            </a:r>
            <a:endParaRPr lang="en-US" sz="1030" dirty="0"/>
          </a:p>
        </p:txBody>
      </p:sp>
      <p:sp>
        <p:nvSpPr>
          <p:cNvPr id="35" name="Shape 29"/>
          <p:cNvSpPr/>
          <p:nvPr/>
        </p:nvSpPr>
        <p:spPr>
          <a:xfrm>
            <a:off x="548640" y="3520440"/>
            <a:ext cx="35935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548640" y="352044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Shape 31"/>
          <p:cNvSpPr/>
          <p:nvPr/>
        </p:nvSpPr>
        <p:spPr>
          <a:xfrm>
            <a:off x="768096" y="3739896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416" y="3873216"/>
            <a:ext cx="227137" cy="227137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371600" y="37216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BCrypt password hashing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768096" y="4270248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salted BCrypt hashes (strength 12) — never in plain text.</a:t>
            </a:r>
            <a:endParaRPr lang="en-US" sz="980" dirty="0"/>
          </a:p>
        </p:txBody>
      </p:sp>
      <p:sp>
        <p:nvSpPr>
          <p:cNvPr id="41" name="Shape 34"/>
          <p:cNvSpPr/>
          <p:nvPr/>
        </p:nvSpPr>
        <p:spPr>
          <a:xfrm>
            <a:off x="4288536" y="3520440"/>
            <a:ext cx="35935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4288536" y="352044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Shape 36"/>
          <p:cNvSpPr/>
          <p:nvPr/>
        </p:nvSpPr>
        <p:spPr>
          <a:xfrm>
            <a:off x="4507992" y="3739896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1312" y="3873216"/>
            <a:ext cx="227137" cy="227137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111496" y="37216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Signed HMAC JWTs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4507992" y="4270248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signed with a 32-byte+ secret; the API refuses to start without it.</a:t>
            </a:r>
            <a:endParaRPr lang="en-US" sz="980" dirty="0"/>
          </a:p>
        </p:txBody>
      </p:sp>
      <p:sp>
        <p:nvSpPr>
          <p:cNvPr id="47" name="Shape 39"/>
          <p:cNvSpPr/>
          <p:nvPr/>
        </p:nvSpPr>
        <p:spPr>
          <a:xfrm>
            <a:off x="8028432" y="3520440"/>
            <a:ext cx="35935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8028432" y="352044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9" name="Shape 41"/>
          <p:cNvSpPr/>
          <p:nvPr/>
        </p:nvSpPr>
        <p:spPr>
          <a:xfrm>
            <a:off x="8247888" y="3739896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208" y="3873216"/>
            <a:ext cx="227137" cy="227137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8851392" y="37216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 sessions</a:t>
            </a:r>
            <a:endParaRPr lang="en-US" sz="1250" dirty="0"/>
          </a:p>
        </p:txBody>
      </p:sp>
      <p:sp>
        <p:nvSpPr>
          <p:cNvPr id="52" name="Text 43"/>
          <p:cNvSpPr/>
          <p:nvPr/>
        </p:nvSpPr>
        <p:spPr>
          <a:xfrm>
            <a:off x="8247888" y="4270248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session state — sessions are STATELESS, enabling horizontal scaling.</a:t>
            </a:r>
            <a:endParaRPr lang="en-US" sz="980" dirty="0"/>
          </a:p>
        </p:txBody>
      </p:sp>
      <p:sp>
        <p:nvSpPr>
          <p:cNvPr id="53" name="Shape 44"/>
          <p:cNvSpPr/>
          <p:nvPr/>
        </p:nvSpPr>
        <p:spPr>
          <a:xfrm>
            <a:off x="548640" y="4937760"/>
            <a:ext cx="35935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548640" y="493776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5" name="Shape 46"/>
          <p:cNvSpPr/>
          <p:nvPr/>
        </p:nvSpPr>
        <p:spPr>
          <a:xfrm>
            <a:off x="768096" y="5157216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416" y="5290536"/>
            <a:ext cx="227137" cy="227137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1371600" y="513892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allow-list</a:t>
            </a:r>
            <a:endParaRPr lang="en-US" sz="1250" dirty="0"/>
          </a:p>
        </p:txBody>
      </p:sp>
      <p:sp>
        <p:nvSpPr>
          <p:cNvPr id="58" name="Text 48"/>
          <p:cNvSpPr/>
          <p:nvPr/>
        </p:nvSpPr>
        <p:spPr>
          <a:xfrm>
            <a:off x="768096" y="5687568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configured frontend origins may call the API; CSRF disabled for the token API.</a:t>
            </a:r>
            <a:endParaRPr lang="en-US" sz="980" dirty="0"/>
          </a:p>
        </p:txBody>
      </p:sp>
      <p:sp>
        <p:nvSpPr>
          <p:cNvPr id="59" name="Shape 49"/>
          <p:cNvSpPr/>
          <p:nvPr/>
        </p:nvSpPr>
        <p:spPr>
          <a:xfrm>
            <a:off x="4288536" y="4937760"/>
            <a:ext cx="35935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60" name="Shape 50"/>
          <p:cNvSpPr/>
          <p:nvPr/>
        </p:nvSpPr>
        <p:spPr>
          <a:xfrm>
            <a:off x="4288536" y="493776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1" name="Shape 51"/>
          <p:cNvSpPr/>
          <p:nvPr/>
        </p:nvSpPr>
        <p:spPr>
          <a:xfrm>
            <a:off x="4507992" y="5157216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1312" y="5290536"/>
            <a:ext cx="227137" cy="227137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5111496" y="513892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Server-side authorisation</a:t>
            </a:r>
            <a:endParaRPr lang="en-US" sz="1250" dirty="0"/>
          </a:p>
        </p:txBody>
      </p:sp>
      <p:sp>
        <p:nvSpPr>
          <p:cNvPr id="64" name="Text 53"/>
          <p:cNvSpPr/>
          <p:nvPr/>
        </p:nvSpPr>
        <p:spPr>
          <a:xfrm>
            <a:off x="4507992" y="5687568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role checks are UI-only; every endpoint is re-checked on the server.</a:t>
            </a:r>
            <a:endParaRPr lang="en-US" sz="980" dirty="0"/>
          </a:p>
        </p:txBody>
      </p:sp>
      <p:sp>
        <p:nvSpPr>
          <p:cNvPr id="65" name="Shape 54"/>
          <p:cNvSpPr/>
          <p:nvPr/>
        </p:nvSpPr>
        <p:spPr>
          <a:xfrm>
            <a:off x="8028432" y="4937760"/>
            <a:ext cx="35935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66" name="Shape 55"/>
          <p:cNvSpPr/>
          <p:nvPr/>
        </p:nvSpPr>
        <p:spPr>
          <a:xfrm>
            <a:off x="8028432" y="493776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7" name="Shape 56"/>
          <p:cNvSpPr/>
          <p:nvPr/>
        </p:nvSpPr>
        <p:spPr>
          <a:xfrm>
            <a:off x="8247888" y="5157216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1208" y="5290536"/>
            <a:ext cx="227137" cy="227137"/>
          </a:xfrm>
          <a:prstGeom prst="rect">
            <a:avLst/>
          </a:prstGeom>
        </p:spPr>
      </p:pic>
      <p:sp>
        <p:nvSpPr>
          <p:cNvPr id="69" name="Text 57"/>
          <p:cNvSpPr/>
          <p:nvPr/>
        </p:nvSpPr>
        <p:spPr>
          <a:xfrm>
            <a:off x="8851392" y="513892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logging</a:t>
            </a:r>
            <a:endParaRPr lang="en-US" sz="1250" dirty="0"/>
          </a:p>
        </p:txBody>
      </p:sp>
      <p:sp>
        <p:nvSpPr>
          <p:cNvPr id="70" name="Text 58"/>
          <p:cNvSpPr/>
          <p:nvPr/>
        </p:nvSpPr>
        <p:spPr>
          <a:xfrm>
            <a:off x="8247888" y="5687568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Security-relevant actions are written to an immutable audit log.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 Control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canonical roles map to ~55 granular permissions. The matrix below shows representative capabilities per role.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011680"/>
                <a:gridCol w="2011680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Capability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System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Admin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Operational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Manager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Warehouse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Manager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2A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&amp; role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· suppliers · warehouses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control &amp; transfers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orders &amp; stock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&amp; sales invoices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returns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&amp; financial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CED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0899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    </a:t>
            </a:r>
            <a:pPr indent="0" marL="0">
              <a:buNone/>
            </a:pPr>
            <a:r>
              <a:rPr lang="en-US" sz="1050" dirty="0">
                <a:solidFill>
                  <a:srgbClr val="C2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granted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FUNCTIONAL 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Map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Nineteen feature modules cover the entire inventory lifecycle.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15798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614" y="2286366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222199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62072" y="196596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26664" y="215798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046" y="2286366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22199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175504" y="196596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40096" y="215798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78" y="2286366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25312" y="222199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488936" y="196596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53528" y="215798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910" y="2286366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38744" y="222199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802368" y="196596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966960" y="215798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342" y="2286366"/>
            <a:ext cx="218724" cy="2187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52176" y="222199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" y="297180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13232" y="316382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14" y="3292206"/>
            <a:ext cx="218724" cy="2187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98448" y="322783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Warehouses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2862072" y="297180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3026664" y="316382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5046" y="3292206"/>
            <a:ext cx="218724" cy="21872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611880" y="322783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Control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5175504" y="297180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5340096" y="316382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8478" y="3292206"/>
            <a:ext cx="218724" cy="21872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925312" y="322783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Transfers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7488936" y="297180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7653528" y="316382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1910" y="3292206"/>
            <a:ext cx="218724" cy="21872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238744" y="322783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Requests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9802368" y="297180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9966960" y="316382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5342" y="3292206"/>
            <a:ext cx="218724" cy="218724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10552176" y="322783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548640" y="397764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713232" y="416966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614" y="4298046"/>
            <a:ext cx="218724" cy="218724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1298448" y="423367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Purchasing</a:t>
            </a:r>
            <a:endParaRPr lang="en-US" sz="1200" dirty="0"/>
          </a:p>
        </p:txBody>
      </p:sp>
      <p:sp>
        <p:nvSpPr>
          <p:cNvPr id="50" name="Shape 37"/>
          <p:cNvSpPr/>
          <p:nvPr/>
        </p:nvSpPr>
        <p:spPr>
          <a:xfrm>
            <a:off x="2862072" y="397764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3026664" y="416966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55046" y="4298046"/>
            <a:ext cx="218724" cy="218724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3611880" y="423367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 Orders</a:t>
            </a:r>
            <a:endParaRPr lang="en-US" sz="1200" dirty="0"/>
          </a:p>
        </p:txBody>
      </p:sp>
      <p:sp>
        <p:nvSpPr>
          <p:cNvPr id="54" name="Shape 40"/>
          <p:cNvSpPr/>
          <p:nvPr/>
        </p:nvSpPr>
        <p:spPr>
          <a:xfrm>
            <a:off x="5175504" y="397764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5340096" y="416966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68478" y="4298046"/>
            <a:ext cx="218724" cy="218724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5925312" y="423367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1200" dirty="0"/>
          </a:p>
        </p:txBody>
      </p:sp>
      <p:sp>
        <p:nvSpPr>
          <p:cNvPr id="58" name="Shape 43"/>
          <p:cNvSpPr/>
          <p:nvPr/>
        </p:nvSpPr>
        <p:spPr>
          <a:xfrm>
            <a:off x="7488936" y="397764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59" name="Shape 44"/>
          <p:cNvSpPr/>
          <p:nvPr/>
        </p:nvSpPr>
        <p:spPr>
          <a:xfrm>
            <a:off x="7653528" y="416966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81910" y="4298046"/>
            <a:ext cx="218724" cy="218724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8238744" y="423367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</a:t>
            </a:r>
            <a:endParaRPr lang="en-US" sz="1200" dirty="0"/>
          </a:p>
        </p:txBody>
      </p:sp>
      <p:sp>
        <p:nvSpPr>
          <p:cNvPr id="62" name="Shape 46"/>
          <p:cNvSpPr/>
          <p:nvPr/>
        </p:nvSpPr>
        <p:spPr>
          <a:xfrm>
            <a:off x="9802368" y="397764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63" name="Shape 47"/>
          <p:cNvSpPr/>
          <p:nvPr/>
        </p:nvSpPr>
        <p:spPr>
          <a:xfrm>
            <a:off x="9966960" y="416966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95342" y="4298046"/>
            <a:ext cx="218724" cy="218724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10552176" y="423367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</a:t>
            </a:r>
            <a:endParaRPr lang="en-US" sz="1200" dirty="0"/>
          </a:p>
        </p:txBody>
      </p:sp>
      <p:sp>
        <p:nvSpPr>
          <p:cNvPr id="66" name="Shape 49"/>
          <p:cNvSpPr/>
          <p:nvPr/>
        </p:nvSpPr>
        <p:spPr>
          <a:xfrm>
            <a:off x="548640" y="498348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67" name="Shape 50"/>
          <p:cNvSpPr/>
          <p:nvPr/>
        </p:nvSpPr>
        <p:spPr>
          <a:xfrm>
            <a:off x="713232" y="517550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614" y="5303886"/>
            <a:ext cx="218724" cy="218724"/>
          </a:xfrm>
          <a:prstGeom prst="rect">
            <a:avLst/>
          </a:prstGeom>
        </p:spPr>
      </p:pic>
      <p:sp>
        <p:nvSpPr>
          <p:cNvPr id="69" name="Text 51"/>
          <p:cNvSpPr/>
          <p:nvPr/>
        </p:nvSpPr>
        <p:spPr>
          <a:xfrm>
            <a:off x="1298448" y="523951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</a:t>
            </a:r>
            <a:endParaRPr lang="en-US" sz="1200" dirty="0"/>
          </a:p>
        </p:txBody>
      </p:sp>
      <p:sp>
        <p:nvSpPr>
          <p:cNvPr id="70" name="Shape 52"/>
          <p:cNvSpPr/>
          <p:nvPr/>
        </p:nvSpPr>
        <p:spPr>
          <a:xfrm>
            <a:off x="2862072" y="498348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71" name="Shape 53"/>
          <p:cNvSpPr/>
          <p:nvPr/>
        </p:nvSpPr>
        <p:spPr>
          <a:xfrm>
            <a:off x="3026664" y="517550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55046" y="5303886"/>
            <a:ext cx="218724" cy="218724"/>
          </a:xfrm>
          <a:prstGeom prst="rect">
            <a:avLst/>
          </a:prstGeom>
        </p:spPr>
      </p:pic>
      <p:sp>
        <p:nvSpPr>
          <p:cNvPr id="73" name="Text 54"/>
          <p:cNvSpPr/>
          <p:nvPr/>
        </p:nvSpPr>
        <p:spPr>
          <a:xfrm>
            <a:off x="3611880" y="523951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Logs</a:t>
            </a:r>
            <a:endParaRPr lang="en-US" sz="1200" dirty="0"/>
          </a:p>
        </p:txBody>
      </p:sp>
      <p:sp>
        <p:nvSpPr>
          <p:cNvPr id="74" name="Shape 55"/>
          <p:cNvSpPr/>
          <p:nvPr/>
        </p:nvSpPr>
        <p:spPr>
          <a:xfrm>
            <a:off x="5175504" y="498348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75" name="Shape 56"/>
          <p:cNvSpPr/>
          <p:nvPr/>
        </p:nvSpPr>
        <p:spPr>
          <a:xfrm>
            <a:off x="5340096" y="517550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68478" y="5303886"/>
            <a:ext cx="218724" cy="218724"/>
          </a:xfrm>
          <a:prstGeom prst="rect">
            <a:avLst/>
          </a:prstGeom>
        </p:spPr>
      </p:pic>
      <p:sp>
        <p:nvSpPr>
          <p:cNvPr id="77" name="Text 57"/>
          <p:cNvSpPr/>
          <p:nvPr/>
        </p:nvSpPr>
        <p:spPr>
          <a:xfrm>
            <a:off x="5925312" y="523951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78" name="Shape 58"/>
          <p:cNvSpPr/>
          <p:nvPr/>
        </p:nvSpPr>
        <p:spPr>
          <a:xfrm>
            <a:off x="7488936" y="498348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79" name="Shape 59"/>
          <p:cNvSpPr/>
          <p:nvPr/>
        </p:nvSpPr>
        <p:spPr>
          <a:xfrm>
            <a:off x="7653528" y="517550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81910" y="5303886"/>
            <a:ext cx="218724" cy="218724"/>
          </a:xfrm>
          <a:prstGeom prst="rect">
            <a:avLst/>
          </a:prstGeom>
        </p:spPr>
      </p:pic>
      <p:sp>
        <p:nvSpPr>
          <p:cNvPr id="81" name="Text 60"/>
          <p:cNvSpPr/>
          <p:nvPr/>
        </p:nvSpPr>
        <p:spPr>
          <a:xfrm>
            <a:off x="8238744" y="523951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 &amp; Roles</a:t>
            </a:r>
            <a:endParaRPr lang="en-US" sz="1200" dirty="0"/>
          </a:p>
        </p:txBody>
      </p:sp>
      <p:sp>
        <p:nvSpPr>
          <p:cNvPr id="82" name="Shape 61"/>
          <p:cNvSpPr/>
          <p:nvPr/>
        </p:nvSpPr>
        <p:spPr>
          <a:xfrm>
            <a:off x="9802368" y="4983480"/>
            <a:ext cx="2203704" cy="859536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83" name="Shape 62"/>
          <p:cNvSpPr/>
          <p:nvPr/>
        </p:nvSpPr>
        <p:spPr>
          <a:xfrm>
            <a:off x="9966960" y="517550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95342" y="5303886"/>
            <a:ext cx="218724" cy="218724"/>
          </a:xfrm>
          <a:prstGeom prst="rect">
            <a:avLst/>
          </a:prstGeom>
        </p:spPr>
      </p:pic>
      <p:sp>
        <p:nvSpPr>
          <p:cNvPr id="85" name="Text 63"/>
          <p:cNvSpPr/>
          <p:nvPr/>
        </p:nvSpPr>
        <p:spPr>
          <a:xfrm>
            <a:off x="10552176" y="523951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</a:t>
            </a:r>
            <a:endParaRPr lang="en-US" sz="1200" dirty="0"/>
          </a:p>
        </p:txBody>
      </p:sp>
      <p:sp>
        <p:nvSpPr>
          <p:cNvPr id="86" name="Text 64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87" name="Text 65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29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&amp; Analytics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control centre. On login, managers see headline KPIs and twelve-month sales-vs-purchase trends pulled live from the API.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276856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622" y="2405238"/>
            <a:ext cx="218724" cy="2187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569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on the dashboard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548640" y="3090672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090672"/>
            <a:ext cx="64008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22" y="3438510"/>
            <a:ext cx="218724" cy="2187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17320" y="32735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Purchases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417320" y="3602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on the dashboard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548640" y="41239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4123944"/>
            <a:ext cx="64008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" y="4343400"/>
            <a:ext cx="475488" cy="47548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22" y="4471782"/>
            <a:ext cx="218724" cy="2187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43068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Products in Catalog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417320" y="4636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on the dashboard</a:t>
            </a:r>
            <a:endParaRPr lang="en-US" sz="980" dirty="0"/>
          </a:p>
        </p:txBody>
      </p:sp>
      <p:sp>
        <p:nvSpPr>
          <p:cNvPr id="26" name="Shape 21"/>
          <p:cNvSpPr/>
          <p:nvPr/>
        </p:nvSpPr>
        <p:spPr>
          <a:xfrm>
            <a:off x="548640" y="51572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5157216"/>
            <a:ext cx="64008" cy="914400"/>
          </a:xfrm>
          <a:prstGeom prst="rect">
            <a:avLst/>
          </a:prstGeom>
          <a:solidFill>
            <a:srgbClr val="0E4D6B"/>
          </a:solidFill>
          <a:ln/>
        </p:spPr>
      </p:sp>
      <p:sp>
        <p:nvSpPr>
          <p:cNvPr id="28" name="Shape 23"/>
          <p:cNvSpPr/>
          <p:nvPr/>
        </p:nvSpPr>
        <p:spPr>
          <a:xfrm>
            <a:off x="777240" y="5376672"/>
            <a:ext cx="475488" cy="475488"/>
          </a:xfrm>
          <a:prstGeom prst="ellipse">
            <a:avLst/>
          </a:prstGeom>
          <a:solidFill>
            <a:srgbClr val="0E4D6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22" y="5505054"/>
            <a:ext cx="218724" cy="2187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17320" y="53400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Low-stock Products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417320" y="5669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on the dashboard</a:t>
            </a:r>
            <a:endParaRPr lang="en-US" sz="980" dirty="0"/>
          </a:p>
        </p:txBody>
      </p:sp>
      <p:sp>
        <p:nvSpPr>
          <p:cNvPr id="32" name="Shape 26"/>
          <p:cNvSpPr/>
          <p:nvPr/>
        </p:nvSpPr>
        <p:spPr>
          <a:xfrm>
            <a:off x="5349240" y="2057400"/>
            <a:ext cx="6263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349240" y="2057400"/>
            <a:ext cx="64008" cy="4069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28"/>
          <p:cNvSpPr/>
          <p:nvPr/>
        </p:nvSpPr>
        <p:spPr>
          <a:xfrm>
            <a:off x="5623560" y="22128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Sales vs Purchases  (illustrative)</a:t>
            </a:r>
            <a:endParaRPr lang="en-US" sz="13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5486400" y="2651760"/>
          <a:ext cx="5989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Catalog: Products, Categories &amp; Suppliers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data that everything else references — products and their pricing, the categories that organise them, and the suppliers behind them.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5935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48840"/>
            <a:ext cx="64008" cy="3657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441448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2651303"/>
            <a:ext cx="357530" cy="3575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38328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" y="3886200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with SKU, pricing, category and supplier links. Images are validated for safety before upload. Per-warehouse stock is tracked separately.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88536" y="2148840"/>
            <a:ext cx="35935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88536" y="2148840"/>
            <a:ext cx="64008" cy="3657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4562856" y="244144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711" y="2651303"/>
            <a:ext cx="357530" cy="35753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62856" y="338328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Categories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62856" y="3886200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products for navigation, filtering and reporting. Drives the product-performance and stock reports.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28432" y="2148840"/>
            <a:ext cx="35935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28432" y="2148840"/>
            <a:ext cx="64008" cy="3657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Shape 18"/>
          <p:cNvSpPr/>
          <p:nvPr/>
        </p:nvSpPr>
        <p:spPr>
          <a:xfrm>
            <a:off x="8302752" y="2441448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607" y="2651303"/>
            <a:ext cx="357530" cy="35753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02752" y="338328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302752" y="3886200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supplier records and link them to the products they provide, feeding purchasing and supplier-performance analytics.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Multi-Warehouse &amp; Stock Control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tracks stock per warehouse, not just globally — the products_warehouses junction holds an independent quantity for every product in every location.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54203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695103"/>
            <a:ext cx="260787" cy="26078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" y="32004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warehouses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4672" y="3511296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locations with capacity, status and contact details; assign staff to each.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4288536" y="228600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88536" y="2286000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3"/>
          <p:cNvSpPr/>
          <p:nvPr/>
        </p:nvSpPr>
        <p:spPr>
          <a:xfrm>
            <a:off x="4544568" y="254203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639" y="2695103"/>
            <a:ext cx="260787" cy="2607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44568" y="32004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Per-warehouse stock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44568" y="3511296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holds an independent quantity in each warehouse it is stored in.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8028432" y="228600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28432" y="2286000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18"/>
          <p:cNvSpPr/>
          <p:nvPr/>
        </p:nvSpPr>
        <p:spPr>
          <a:xfrm>
            <a:off x="8284464" y="254203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535" y="2695103"/>
            <a:ext cx="260787" cy="2607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84464" y="32004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movements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284464" y="3511296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 records type, quantity, unit cost, total value, actor and timestamp.</a:t>
            </a:r>
            <a:endParaRPr lang="en-US" sz="1030" dirty="0"/>
          </a:p>
        </p:txBody>
      </p:sp>
      <p:sp>
        <p:nvSpPr>
          <p:cNvPr id="26" name="Shape 21"/>
          <p:cNvSpPr/>
          <p:nvPr/>
        </p:nvSpPr>
        <p:spPr>
          <a:xfrm>
            <a:off x="548640" y="4215384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4215384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3"/>
          <p:cNvSpPr/>
          <p:nvPr/>
        </p:nvSpPr>
        <p:spPr>
          <a:xfrm>
            <a:off x="804672" y="447141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743" y="4624487"/>
            <a:ext cx="260787" cy="26078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04672" y="5129784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Low-stock alerts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804672" y="544068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below their threshold are flagged on the dashboard and in reports.</a:t>
            </a:r>
            <a:endParaRPr lang="en-US" sz="1030" dirty="0"/>
          </a:p>
        </p:txBody>
      </p:sp>
      <p:sp>
        <p:nvSpPr>
          <p:cNvPr id="32" name="Shape 26"/>
          <p:cNvSpPr/>
          <p:nvPr/>
        </p:nvSpPr>
        <p:spPr>
          <a:xfrm>
            <a:off x="4288536" y="4215384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88536" y="4215384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28"/>
          <p:cNvSpPr/>
          <p:nvPr/>
        </p:nvSpPr>
        <p:spPr>
          <a:xfrm>
            <a:off x="4544568" y="447141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639" y="4624487"/>
            <a:ext cx="260787" cy="260787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544568" y="5129784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Inter-warehouse transfers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4544568" y="544068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stock between locations through an approved, auditable request.</a:t>
            </a:r>
            <a:endParaRPr lang="en-US" sz="1030" dirty="0"/>
          </a:p>
        </p:txBody>
      </p:sp>
      <p:sp>
        <p:nvSpPr>
          <p:cNvPr id="38" name="Shape 31"/>
          <p:cNvSpPr/>
          <p:nvPr/>
        </p:nvSpPr>
        <p:spPr>
          <a:xfrm>
            <a:off x="8028432" y="4215384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028432" y="4215384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Shape 33"/>
          <p:cNvSpPr/>
          <p:nvPr/>
        </p:nvSpPr>
        <p:spPr>
          <a:xfrm>
            <a:off x="8284464" y="447141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7535" y="4624487"/>
            <a:ext cx="260787" cy="260787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284464" y="5129784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Staff assignment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8284464" y="544068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managers see and act only on the warehouses assigned to them.</a:t>
            </a:r>
            <a:endParaRPr lang="en-US" sz="10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Workflows &amp; Approvals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stock changes never happen silently — they go through request-and-approve workflows that keep managers in control and leave an audit trail.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Stock-edit request  ·  correcting an on-hand quantity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1460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Raise request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9352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submit current vs requested qty + reason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2898648" y="2770632"/>
            <a:ext cx="420624" cy="420624"/>
          </a:xfrm>
          <a:prstGeom prst="ellipse">
            <a:avLst/>
          </a:prstGeom>
          <a:solidFill>
            <a:srgbClr val="0B2A3D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6423" y="2888407"/>
            <a:ext cx="185075" cy="18507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337560" y="251460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37560" y="251460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352044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520440" y="29352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Manager inspects the difference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5687568" y="2770632"/>
            <a:ext cx="420624" cy="420624"/>
          </a:xfrm>
          <a:prstGeom prst="ellipse">
            <a:avLst/>
          </a:prstGeom>
          <a:solidFill>
            <a:srgbClr val="0B2A3D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343" y="2888407"/>
            <a:ext cx="185075" cy="18507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126480" y="251460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26480" y="251460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19"/>
          <p:cNvSpPr/>
          <p:nvPr/>
        </p:nvSpPr>
        <p:spPr>
          <a:xfrm>
            <a:off x="630936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/ reject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309360" y="29352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is recorded with the approver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8476488" y="2770632"/>
            <a:ext cx="420624" cy="420624"/>
          </a:xfrm>
          <a:prstGeom prst="ellipse">
            <a:avLst/>
          </a:prstGeom>
          <a:solidFill>
            <a:srgbClr val="0B2A3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263" y="2888407"/>
            <a:ext cx="185075" cy="185075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8915400" y="251460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915400" y="251460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4"/>
          <p:cNvSpPr/>
          <p:nvPr/>
        </p:nvSpPr>
        <p:spPr>
          <a:xfrm>
            <a:off x="909828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&amp; log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9098280" y="29352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adjusts; a movement is written</a:t>
            </a:r>
            <a:endParaRPr lang="en-US" sz="980" dirty="0"/>
          </a:p>
        </p:txBody>
      </p:sp>
      <p:sp>
        <p:nvSpPr>
          <p:cNvPr id="31" name="Text 26"/>
          <p:cNvSpPr/>
          <p:nvPr/>
        </p:nvSpPr>
        <p:spPr>
          <a:xfrm>
            <a:off x="548640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Warehouse stock-transfer request  ·  moving goods between sites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548640" y="452628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548640" y="4526280"/>
            <a:ext cx="64008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29"/>
          <p:cNvSpPr/>
          <p:nvPr/>
        </p:nvSpPr>
        <p:spPr>
          <a:xfrm>
            <a:off x="731520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transfer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731520" y="49469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source, destination, product &amp; quantity</a:t>
            </a:r>
            <a:endParaRPr lang="en-US" sz="980" dirty="0"/>
          </a:p>
        </p:txBody>
      </p:sp>
      <p:sp>
        <p:nvSpPr>
          <p:cNvPr id="36" name="Shape 31"/>
          <p:cNvSpPr/>
          <p:nvPr/>
        </p:nvSpPr>
        <p:spPr>
          <a:xfrm>
            <a:off x="2898648" y="4782312"/>
            <a:ext cx="420624" cy="420624"/>
          </a:xfrm>
          <a:prstGeom prst="ellipse">
            <a:avLst/>
          </a:prstGeom>
          <a:solidFill>
            <a:srgbClr val="0B2A3D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423" y="4900087"/>
            <a:ext cx="185075" cy="185075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3337560" y="452628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337560" y="4526280"/>
            <a:ext cx="64008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4"/>
          <p:cNvSpPr/>
          <p:nvPr/>
        </p:nvSpPr>
        <p:spPr>
          <a:xfrm>
            <a:off x="3520440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 selects source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3520440" y="49469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confirms or re-routes the source</a:t>
            </a:r>
            <a:endParaRPr lang="en-US" sz="980" dirty="0"/>
          </a:p>
        </p:txBody>
      </p:sp>
      <p:sp>
        <p:nvSpPr>
          <p:cNvPr id="42" name="Shape 36"/>
          <p:cNvSpPr/>
          <p:nvPr/>
        </p:nvSpPr>
        <p:spPr>
          <a:xfrm>
            <a:off x="5687568" y="4782312"/>
            <a:ext cx="420624" cy="420624"/>
          </a:xfrm>
          <a:prstGeom prst="ellipse">
            <a:avLst/>
          </a:prstGeom>
          <a:solidFill>
            <a:srgbClr val="0B2A3D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343" y="4900087"/>
            <a:ext cx="185075" cy="185075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6126480" y="452628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126480" y="4526280"/>
            <a:ext cx="64008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6" name="Text 39"/>
          <p:cNvSpPr/>
          <p:nvPr/>
        </p:nvSpPr>
        <p:spPr>
          <a:xfrm>
            <a:off x="6309360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6309360" y="49469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quantity is locked in</a:t>
            </a:r>
            <a:endParaRPr lang="en-US" sz="980" dirty="0"/>
          </a:p>
        </p:txBody>
      </p:sp>
      <p:sp>
        <p:nvSpPr>
          <p:cNvPr id="48" name="Shape 41"/>
          <p:cNvSpPr/>
          <p:nvPr/>
        </p:nvSpPr>
        <p:spPr>
          <a:xfrm>
            <a:off x="8476488" y="4782312"/>
            <a:ext cx="420624" cy="420624"/>
          </a:xfrm>
          <a:prstGeom prst="ellipse">
            <a:avLst/>
          </a:prstGeom>
          <a:solidFill>
            <a:srgbClr val="0B2A3D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4263" y="4900087"/>
            <a:ext cx="185075" cy="185075"/>
          </a:xfrm>
          <a:prstGeom prst="rect">
            <a:avLst/>
          </a:prstGeom>
        </p:spPr>
      </p:pic>
      <p:sp>
        <p:nvSpPr>
          <p:cNvPr id="50" name="Shape 42"/>
          <p:cNvSpPr/>
          <p:nvPr/>
        </p:nvSpPr>
        <p:spPr>
          <a:xfrm>
            <a:off x="8915400" y="452628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8915400" y="4526280"/>
            <a:ext cx="64008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2" name="Text 44"/>
          <p:cNvSpPr/>
          <p:nvPr/>
        </p:nvSpPr>
        <p:spPr>
          <a:xfrm>
            <a:off x="9098280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 &amp; audit</a:t>
            </a:r>
            <a:endParaRPr lang="en-US" sz="1300" dirty="0"/>
          </a:p>
        </p:txBody>
      </p:sp>
      <p:sp>
        <p:nvSpPr>
          <p:cNvPr id="53" name="Text 45"/>
          <p:cNvSpPr/>
          <p:nvPr/>
        </p:nvSpPr>
        <p:spPr>
          <a:xfrm>
            <a:off x="9098280" y="49469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leaves source, enters destination</a:t>
            </a:r>
            <a:endParaRPr lang="en-US" sz="980" dirty="0"/>
          </a:p>
        </p:txBody>
      </p:sp>
      <p:sp>
        <p:nvSpPr>
          <p:cNvPr id="54" name="Text 46"/>
          <p:cNvSpPr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workflows carry a status (PENDING → APPROVED / REJECTED) and an approver, so every adjustment is accountable.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&amp; Invoicing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managers raise sales invoices against customers, with full payment tracking built 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59359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64008" cy="18105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31343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461565"/>
            <a:ext cx="252374" cy="2523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99616" y="2423160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Multi-line invoices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4672" y="301752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multiple products with quantities and per-line pricing; totals computed automatically.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88536" y="2057400"/>
            <a:ext cx="359359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88536" y="2057400"/>
            <a:ext cx="64008" cy="18105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3"/>
          <p:cNvSpPr/>
          <p:nvPr/>
        </p:nvSpPr>
        <p:spPr>
          <a:xfrm>
            <a:off x="4544568" y="231343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2461565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39512" y="2423160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status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44568" y="301752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PAID, partial and unpaid states with paid amount and outstanding balance due.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028432" y="2057400"/>
            <a:ext cx="359359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28432" y="2057400"/>
            <a:ext cx="64008" cy="18105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18"/>
          <p:cNvSpPr/>
          <p:nvPr/>
        </p:nvSpPr>
        <p:spPr>
          <a:xfrm>
            <a:off x="8284464" y="231343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2461565"/>
            <a:ext cx="252374" cy="25237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79408" y="2423160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Void / cancel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284464" y="301752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can be voided with the actor and timestamp recorded for accountability.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4014216"/>
            <a:ext cx="359359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4014216"/>
            <a:ext cx="64008" cy="18105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3"/>
          <p:cNvSpPr/>
          <p:nvPr/>
        </p:nvSpPr>
        <p:spPr>
          <a:xfrm>
            <a:off x="804672" y="42702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4418381"/>
            <a:ext cx="252374" cy="25237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99616" y="4379976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stock decrement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804672" y="4974336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a sale reduces warehouse stock and writes a stock movement.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288536" y="4014216"/>
            <a:ext cx="359359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88536" y="4014216"/>
            <a:ext cx="64008" cy="18105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28"/>
          <p:cNvSpPr/>
          <p:nvPr/>
        </p:nvSpPr>
        <p:spPr>
          <a:xfrm>
            <a:off x="4544568" y="42702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701" y="4418381"/>
            <a:ext cx="252374" cy="25237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239512" y="4379976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ledger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4544568" y="4974336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sale is tied to a customer, building purchase history and balances.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8028432" y="4014216"/>
            <a:ext cx="359359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028432" y="4014216"/>
            <a:ext cx="64008" cy="18105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Shape 33"/>
          <p:cNvSpPr/>
          <p:nvPr/>
        </p:nvSpPr>
        <p:spPr>
          <a:xfrm>
            <a:off x="8284464" y="42702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597" y="4418381"/>
            <a:ext cx="252374" cy="25237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79408" y="4379976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Feeds reporting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8284464" y="4974336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flow straight into the sales-summary and customer-history reports.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Purchasing &amp; Receive Orders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inbound side: purchase invoices from suppliers, and a goods-receiving workflow that supports partial deliveries.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07568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03120"/>
            <a:ext cx="64008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2860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0428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PO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supplier purchase invoice &amp; expected lines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569464" y="22860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807208" y="2103120"/>
            <a:ext cx="207568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07208" y="2103120"/>
            <a:ext cx="64008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2990088" y="22860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2990088" y="230428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990088" y="27432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 receipt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90088" y="30358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awaits goods arriving at the warehouse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828032" y="22860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065776" y="2103120"/>
            <a:ext cx="207568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65776" y="2103120"/>
            <a:ext cx="64008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5248656" y="22860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248656" y="230428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248656" y="27432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 (partial)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48656" y="30358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received quantity per line — supports short deliveries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7086600" y="22860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7324344" y="2103120"/>
            <a:ext cx="207568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24344" y="2103120"/>
            <a:ext cx="64008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7507224" y="22860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7507224" y="230428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507224" y="27432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07224" y="30358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Manager approves the receipt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9345168" y="22860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9582912" y="2103120"/>
            <a:ext cx="207568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582912" y="2103120"/>
            <a:ext cx="64008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Shape 36"/>
          <p:cNvSpPr/>
          <p:nvPr/>
        </p:nvSpPr>
        <p:spPr>
          <a:xfrm>
            <a:off x="9765792" y="22860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9765792" y="230428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765792" y="27432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in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765792" y="30358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post to warehouse stock + movements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548640" y="3840480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640" y="3840480"/>
            <a:ext cx="64008" cy="1828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Shape 42"/>
          <p:cNvSpPr/>
          <p:nvPr/>
        </p:nvSpPr>
        <p:spPr>
          <a:xfrm>
            <a:off x="804672" y="411480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618" y="4277746"/>
            <a:ext cx="277612" cy="277612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804672" y="484632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Receipt status tracking</a:t>
            </a:r>
            <a:endParaRPr lang="en-US" sz="1350" dirty="0"/>
          </a:p>
        </p:txBody>
      </p:sp>
      <p:sp>
        <p:nvSpPr>
          <p:cNvPr id="47" name="Text 44"/>
          <p:cNvSpPr/>
          <p:nvPr/>
        </p:nvSpPr>
        <p:spPr>
          <a:xfrm>
            <a:off x="804672" y="52120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carries PENDING_RECEIPT → fully / partially received states.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4288536" y="3840480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4288536" y="3840480"/>
            <a:ext cx="64008" cy="1828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0" name="Shape 47"/>
          <p:cNvSpPr/>
          <p:nvPr/>
        </p:nvSpPr>
        <p:spPr>
          <a:xfrm>
            <a:off x="4544568" y="411480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514" y="4277746"/>
            <a:ext cx="277612" cy="277612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4544568" y="484632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Supplier-linked</a:t>
            </a:r>
            <a:endParaRPr lang="en-US" sz="1350" dirty="0"/>
          </a:p>
        </p:txBody>
      </p:sp>
      <p:sp>
        <p:nvSpPr>
          <p:cNvPr id="53" name="Text 49"/>
          <p:cNvSpPr/>
          <p:nvPr/>
        </p:nvSpPr>
        <p:spPr>
          <a:xfrm>
            <a:off x="4544568" y="52120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tie back to suppliers, powering the supplier-performance report.</a:t>
            </a:r>
            <a:endParaRPr lang="en-US" sz="1050" dirty="0"/>
          </a:p>
        </p:txBody>
      </p:sp>
      <p:sp>
        <p:nvSpPr>
          <p:cNvPr id="54" name="Shape 50"/>
          <p:cNvSpPr/>
          <p:nvPr/>
        </p:nvSpPr>
        <p:spPr>
          <a:xfrm>
            <a:off x="8028432" y="3840480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8028432" y="3840480"/>
            <a:ext cx="64008" cy="1828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6" name="Shape 52"/>
          <p:cNvSpPr/>
          <p:nvPr/>
        </p:nvSpPr>
        <p:spPr>
          <a:xfrm>
            <a:off x="8284464" y="411480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410" y="4277746"/>
            <a:ext cx="277612" cy="277612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8284464" y="484632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capture</a:t>
            </a:r>
            <a:endParaRPr lang="en-US" sz="1350" dirty="0"/>
          </a:p>
        </p:txBody>
      </p:sp>
      <p:sp>
        <p:nvSpPr>
          <p:cNvPr id="59" name="Text 54"/>
          <p:cNvSpPr/>
          <p:nvPr/>
        </p:nvSpPr>
        <p:spPr>
          <a:xfrm>
            <a:off x="8284464" y="52120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costs recorded on receipt feed stock valuation and movement totals.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&amp; Internal Distribution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don't only move forward. Inflow models returns in both directions and internal distribution between warehouses — each reversing or shifting stock correctly.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59359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40280"/>
            <a:ext cx="64008" cy="3108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532888"/>
            <a:ext cx="749808" cy="7498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408" y="2735336"/>
            <a:ext cx="344912" cy="344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42900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returns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22960" y="393192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return goods against a sales invoice; stock is added back and the customer balance adjusted.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88536" y="2240280"/>
            <a:ext cx="359359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88536" y="2240280"/>
            <a:ext cx="64008" cy="3108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4562856" y="2532888"/>
            <a:ext cx="749808" cy="7498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304" y="2735336"/>
            <a:ext cx="344912" cy="344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62856" y="342900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Purchase returns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4562856" y="393192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 or excess stock is returned to suppliers, decrementing warehouse quantities.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28432" y="2240280"/>
            <a:ext cx="359359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28432" y="2240280"/>
            <a:ext cx="64008" cy="3108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Shape 18"/>
          <p:cNvSpPr/>
          <p:nvPr/>
        </p:nvSpPr>
        <p:spPr>
          <a:xfrm>
            <a:off x="8302752" y="2532888"/>
            <a:ext cx="749808" cy="74980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200" y="2735336"/>
            <a:ext cx="344912" cy="344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02752" y="342900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distribution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8302752" y="393192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invoices move products between the company's own warehouses to balance stock.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48640" y="55321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return and transfer writes its own stock movement, so the on-hand quantity always reconciles with history.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Reporting, Audit &amp; Notifications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purpose-built report endpoints turn raw operations into decisions, while audit logs and notifications keep everyone informed and accountable.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360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64008" cy="4069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128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 report types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68833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9748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6791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on hand  </a:t>
            </a:r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quantities by product &amp; warehouse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389120" y="268833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269748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6791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 </a:t>
            </a:r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below reorder threshold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22960" y="3346704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5584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337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movements  </a:t>
            </a:r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in/out movement ledger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389120" y="3346704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335584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337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summary  </a:t>
            </a:r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over time &amp; by segment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822960" y="400507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1421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995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summary  </a:t>
            </a:r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order volumes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389120" y="400507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401421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995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 </a:t>
            </a:r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purchase returns analysis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822960" y="46634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67258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6542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 </a:t>
            </a:r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/ worst selling products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4389120" y="46634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0" y="467258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46542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 </a:t>
            </a:r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&amp; stock per site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822960" y="5321808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33095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34440" y="53126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 </a:t>
            </a:r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volume by supplier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4389120" y="5321808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120" y="533095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0600" y="53126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history  </a:t>
            </a:r>
            <a:pPr indent="0" marL="0">
              <a:buNone/>
            </a:pPr>
            <a:r>
              <a:rPr lang="en-US" sz="103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history per customer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8092440" y="2148840"/>
            <a:ext cx="3520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92440" y="214884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Shape 41"/>
          <p:cNvSpPr/>
          <p:nvPr/>
        </p:nvSpPr>
        <p:spPr>
          <a:xfrm>
            <a:off x="8321040" y="23682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9297" y="2506553"/>
            <a:ext cx="235549" cy="235549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8942832" y="2350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logs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8321040" y="2862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trail of who changed what, when — viewable by admins &amp; managers.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8092440" y="3520440"/>
            <a:ext cx="3520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092440" y="352044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9" name="Shape 46"/>
          <p:cNvSpPr/>
          <p:nvPr/>
        </p:nvSpPr>
        <p:spPr>
          <a:xfrm>
            <a:off x="8321040" y="37398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297" y="3878153"/>
            <a:ext cx="235549" cy="235549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8942832" y="3721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52" name="Text 48"/>
          <p:cNvSpPr/>
          <p:nvPr/>
        </p:nvSpPr>
        <p:spPr>
          <a:xfrm>
            <a:off x="8321040" y="42336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alerts for approvals, low stock and key events.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8092440" y="4892040"/>
            <a:ext cx="3520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54" name="Shape 50"/>
          <p:cNvSpPr/>
          <p:nvPr/>
        </p:nvSpPr>
        <p:spPr>
          <a:xfrm>
            <a:off x="8092440" y="4892040"/>
            <a:ext cx="6400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5" name="Shape 51"/>
          <p:cNvSpPr/>
          <p:nvPr/>
        </p:nvSpPr>
        <p:spPr>
          <a:xfrm>
            <a:off x="8321040" y="51114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297" y="5249753"/>
            <a:ext cx="235549" cy="235549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8942832" y="5093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Exportable</a:t>
            </a:r>
            <a:endParaRPr lang="en-US" sz="1350" dirty="0"/>
          </a:p>
        </p:txBody>
      </p:sp>
      <p:sp>
        <p:nvSpPr>
          <p:cNvPr id="58" name="Text 53"/>
          <p:cNvSpPr/>
          <p:nvPr/>
        </p:nvSpPr>
        <p:spPr>
          <a:xfrm>
            <a:off x="8321040" y="56052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export to CSV for sharing and offline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FUNCTIONAL 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End-to-End: A Product's Journey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modules connect into one continuous flow of goods and data.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700784" cy="1920240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743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0782" y="294071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61188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" y="395020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purchase order to a supplier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2212848" y="324612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381" y="3353653"/>
            <a:ext cx="168981" cy="16898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14016" y="2468880"/>
            <a:ext cx="1700784" cy="1920240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898648" y="2743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158" y="2940710"/>
            <a:ext cx="336499" cy="3364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05456" y="361188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523744" y="395020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received into a warehouse</a:t>
            </a:r>
            <a:endParaRPr lang="en-US" sz="930" dirty="0"/>
          </a:p>
        </p:txBody>
      </p:sp>
      <p:sp>
        <p:nvSpPr>
          <p:cNvPr id="18" name="Shape 13"/>
          <p:cNvSpPr/>
          <p:nvPr/>
        </p:nvSpPr>
        <p:spPr>
          <a:xfrm>
            <a:off x="4078224" y="324612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5757" y="3353653"/>
            <a:ext cx="168981" cy="16898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9392" y="2468880"/>
            <a:ext cx="1700784" cy="1920240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764024" y="2743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534" y="2940710"/>
            <a:ext cx="336499" cy="33649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70832" y="361188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389120" y="395020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Per-warehouse stock updated &amp; valued</a:t>
            </a:r>
            <a:endParaRPr lang="en-US" sz="930" dirty="0"/>
          </a:p>
        </p:txBody>
      </p:sp>
      <p:sp>
        <p:nvSpPr>
          <p:cNvPr id="25" name="Shape 18"/>
          <p:cNvSpPr/>
          <p:nvPr/>
        </p:nvSpPr>
        <p:spPr>
          <a:xfrm>
            <a:off x="5943600" y="324612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1133" y="3353653"/>
            <a:ext cx="168981" cy="168981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144768" y="2468880"/>
            <a:ext cx="1700784" cy="1920240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629400" y="2743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6910" y="2940710"/>
            <a:ext cx="336499" cy="33649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236208" y="361188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6254496" y="395020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between sites as needed</a:t>
            </a:r>
            <a:endParaRPr lang="en-US" sz="930" dirty="0"/>
          </a:p>
        </p:txBody>
      </p:sp>
      <p:sp>
        <p:nvSpPr>
          <p:cNvPr id="32" name="Shape 23"/>
          <p:cNvSpPr/>
          <p:nvPr/>
        </p:nvSpPr>
        <p:spPr>
          <a:xfrm>
            <a:off x="7808976" y="324612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6509" y="3353653"/>
            <a:ext cx="168981" cy="168981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8010144" y="2468880"/>
            <a:ext cx="1700784" cy="1920240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8494776" y="2743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2286" y="2940710"/>
            <a:ext cx="336499" cy="33649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101584" y="361188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Sell</a:t>
            </a:r>
            <a:endParaRPr lang="en-US" sz="1500" dirty="0"/>
          </a:p>
        </p:txBody>
      </p:sp>
      <p:sp>
        <p:nvSpPr>
          <p:cNvPr id="38" name="Text 27"/>
          <p:cNvSpPr/>
          <p:nvPr/>
        </p:nvSpPr>
        <p:spPr>
          <a:xfrm>
            <a:off x="8119872" y="395020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sales invoice raised</a:t>
            </a:r>
            <a:endParaRPr lang="en-US" sz="930" dirty="0"/>
          </a:p>
        </p:txBody>
      </p:sp>
      <p:sp>
        <p:nvSpPr>
          <p:cNvPr id="39" name="Shape 28"/>
          <p:cNvSpPr/>
          <p:nvPr/>
        </p:nvSpPr>
        <p:spPr>
          <a:xfrm>
            <a:off x="9674352" y="324612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1885" y="3353653"/>
            <a:ext cx="168981" cy="168981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9875520" y="2468880"/>
            <a:ext cx="1700784" cy="1920240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10360152" y="2743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7662" y="2940710"/>
            <a:ext cx="336499" cy="336499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9966960" y="361188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endParaRPr lang="en-US" sz="1500" dirty="0"/>
          </a:p>
        </p:txBody>
      </p:sp>
      <p:sp>
        <p:nvSpPr>
          <p:cNvPr id="45" name="Text 32"/>
          <p:cNvSpPr/>
          <p:nvPr/>
        </p:nvSpPr>
        <p:spPr>
          <a:xfrm>
            <a:off x="9985248" y="395020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reports inform decisions</a:t>
            </a:r>
            <a:endParaRPr lang="en-US" sz="930" dirty="0"/>
          </a:p>
        </p:txBody>
      </p:sp>
      <p:sp>
        <p:nvSpPr>
          <p:cNvPr id="46" name="Shape 33"/>
          <p:cNvSpPr/>
          <p:nvPr/>
        </p:nvSpPr>
        <p:spPr>
          <a:xfrm>
            <a:off x="548640" y="4892040"/>
            <a:ext cx="11091672" cy="914400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47" name="Shape 34"/>
          <p:cNvSpPr/>
          <p:nvPr/>
        </p:nvSpPr>
        <p:spPr>
          <a:xfrm>
            <a:off x="822960" y="507492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093" y="5223053"/>
            <a:ext cx="252374" cy="252374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1508760" y="513892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recorded.  </a:t>
            </a:r>
            <a:pPr indent="0" marL="0"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movements, audit logs and notifications run underneath the entire flow — nothing changes without a trace.</a:t>
            </a:r>
            <a:endParaRPr lang="en-US" sz="1250" dirty="0"/>
          </a:p>
        </p:txBody>
      </p:sp>
      <p:sp>
        <p:nvSpPr>
          <p:cNvPr id="50" name="Text 36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51" name="Text 37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29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Assurance &amp; Testing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enforced automatically — code can't merge unless it lints, type-checks, tests and builds cleanly on both sides of the stack.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48840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40487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553005"/>
            <a:ext cx="252374" cy="2523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99616" y="2514600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analysis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4672" y="310896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and strict TypeScript type-checking catch errors before runtime.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88536" y="214884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88536" y="2148840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3"/>
          <p:cNvSpPr/>
          <p:nvPr/>
        </p:nvSpPr>
        <p:spPr>
          <a:xfrm>
            <a:off x="4544568" y="240487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2553005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39512" y="2514600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tests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44568" y="310896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unit tests cover constants, hooks and helper logic.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028432" y="214884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28432" y="2148840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18"/>
          <p:cNvSpPr/>
          <p:nvPr/>
        </p:nvSpPr>
        <p:spPr>
          <a:xfrm>
            <a:off x="8284464" y="240487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2553005"/>
            <a:ext cx="252374" cy="25237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79408" y="2514600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tests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284464" y="310896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Spring Boot tests run against a real PostgreSQL service in CI.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4078224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4078224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3"/>
          <p:cNvSpPr/>
          <p:nvPr/>
        </p:nvSpPr>
        <p:spPr>
          <a:xfrm>
            <a:off x="804672" y="4334256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4482389"/>
            <a:ext cx="252374" cy="25237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99616" y="4443984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Dependency audit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804672" y="5038344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blocks builds on high-severity vulnerabilities.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288536" y="4078224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88536" y="4078224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28"/>
          <p:cNvSpPr/>
          <p:nvPr/>
        </p:nvSpPr>
        <p:spPr>
          <a:xfrm>
            <a:off x="4544568" y="4334256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701" y="4482389"/>
            <a:ext cx="252374" cy="25237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239512" y="4443984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Type-safe contracts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4544568" y="5038344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TypeScript types and Zod schemas keep client &amp; API aligned.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8028432" y="4078224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028432" y="4078224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Shape 33"/>
          <p:cNvSpPr/>
          <p:nvPr/>
        </p:nvSpPr>
        <p:spPr>
          <a:xfrm>
            <a:off x="8284464" y="4334256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597" y="4482389"/>
            <a:ext cx="252374" cy="25237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79408" y="4443984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done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8284464" y="5038344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→ type-check → test → build must all pass before completion.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&amp; Deployment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brings the whole system up. Docker Compose orchestrates the frontend, backend and database; GitHub Actions guards every push.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Continuous-integration pipeline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7744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Checkout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2395728"/>
            <a:ext cx="329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176272" y="2377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76272" y="237744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237744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93592" y="2395728"/>
            <a:ext cx="329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803904" y="2377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03904" y="237744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913632" y="237744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Type-check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21224" y="2395728"/>
            <a:ext cx="329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31536" y="2377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1536" y="237744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541264" y="237744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48856" y="2395728"/>
            <a:ext cx="329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059168" y="2377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59168" y="237744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168896" y="237744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76488" y="2395728"/>
            <a:ext cx="329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686800" y="2377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86800" y="237744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8796528" y="237744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04120" y="2395728"/>
            <a:ext cx="329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10314432" y="2377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314432" y="2377440"/>
            <a:ext cx="64008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10424160" y="237744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+ Postgres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56616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3566160"/>
            <a:ext cx="64008" cy="2560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Containerised deployment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4283964"/>
            <a:ext cx="210312" cy="210312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417320" y="41970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container on port 3000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822960" y="478231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4905756"/>
            <a:ext cx="210312" cy="21031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1417320" y="48188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 on port 9090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822960" y="5404104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5527548"/>
            <a:ext cx="210312" cy="210312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1417320" y="5440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</a:t>
            </a:r>
            <a:pPr indent="0" marL="0"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persistent volume</a:t>
            </a:r>
            <a:endParaRPr lang="en-US" sz="1150" dirty="0"/>
          </a:p>
        </p:txBody>
      </p:sp>
      <p:sp>
        <p:nvSpPr>
          <p:cNvPr id="48" name="Shape 43"/>
          <p:cNvSpPr/>
          <p:nvPr/>
        </p:nvSpPr>
        <p:spPr>
          <a:xfrm>
            <a:off x="6172200" y="3566160"/>
            <a:ext cx="5440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6172200" y="3566160"/>
            <a:ext cx="64008" cy="2560320"/>
          </a:xfrm>
          <a:prstGeom prst="rect">
            <a:avLst/>
          </a:prstGeom>
          <a:solidFill>
            <a:srgbClr val="0E4D6B"/>
          </a:solidFill>
          <a:ln/>
        </p:spPr>
      </p:sp>
      <p:sp>
        <p:nvSpPr>
          <p:cNvPr id="50" name="Text 45"/>
          <p:cNvSpPr/>
          <p:nvPr/>
        </p:nvSpPr>
        <p:spPr>
          <a:xfrm>
            <a:off x="644652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Production-ready practices</a:t>
            </a:r>
            <a:endParaRPr lang="en-US" sz="1400" dirty="0"/>
          </a:p>
        </p:txBody>
      </p:sp>
      <p:sp>
        <p:nvSpPr>
          <p:cNvPr id="51" name="Text 46"/>
          <p:cNvSpPr/>
          <p:nvPr/>
        </p:nvSpPr>
        <p:spPr>
          <a:xfrm>
            <a:off x="6446520" y="41148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auto-migrates the schema on first boot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origins supplied via environment variables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(Nginx / Caddy) terminates HTTPS + HSTS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admin &amp; demo data for instant evaluation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security &amp; production checklist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· 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Solutions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64008" cy="2240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81051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958645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99616" y="186537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Keeping stock consistent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4672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sales, transfers and returns risk drift.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804672" y="3017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quantity change goes through a service that writes a matching stock movement inside a transaction.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153912" y="155448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53912" y="1554480"/>
            <a:ext cx="64008" cy="2240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9944" y="181051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077" y="1958645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04888" y="186537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Securing a stateless API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409944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sessions means each request must prove itself.</a:t>
            </a:r>
            <a:endParaRPr lang="en-US" sz="1080" dirty="0"/>
          </a:p>
        </p:txBody>
      </p:sp>
      <p:sp>
        <p:nvSpPr>
          <p:cNvPr id="20" name="Text 16"/>
          <p:cNvSpPr/>
          <p:nvPr/>
        </p:nvSpPr>
        <p:spPr>
          <a:xfrm>
            <a:off x="6409944" y="3017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JWT filter validates a signed token on every call; permissions are re-checked server-side.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548640" y="3941064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941064"/>
            <a:ext cx="64008" cy="2240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19"/>
          <p:cNvSpPr/>
          <p:nvPr/>
        </p:nvSpPr>
        <p:spPr>
          <a:xfrm>
            <a:off x="804672" y="4197096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4345229"/>
            <a:ext cx="252374" cy="25237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99616" y="4251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Modelling complex relationships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804672" y="49011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products and warehouses are many-to-many.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804672" y="54041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junction entities with composite keys keep the schema normalised and queryable.</a:t>
            </a:r>
            <a:endParaRPr lang="en-US" sz="1080" dirty="0"/>
          </a:p>
        </p:txBody>
      </p:sp>
      <p:sp>
        <p:nvSpPr>
          <p:cNvPr id="28" name="Shape 23"/>
          <p:cNvSpPr/>
          <p:nvPr/>
        </p:nvSpPr>
        <p:spPr>
          <a:xfrm>
            <a:off x="6153912" y="3941064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153912" y="3941064"/>
            <a:ext cx="64008" cy="2240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5"/>
          <p:cNvSpPr/>
          <p:nvPr/>
        </p:nvSpPr>
        <p:spPr>
          <a:xfrm>
            <a:off x="6409944" y="4197096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077" y="4345229"/>
            <a:ext cx="252374" cy="25237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04888" y="4251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Granular permissions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6409944" y="49011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 need very different, fine-grained access.</a:t>
            </a:r>
            <a:endParaRPr lang="en-US" sz="1080" dirty="0"/>
          </a:p>
        </p:txBody>
      </p:sp>
      <p:sp>
        <p:nvSpPr>
          <p:cNvPr id="34" name="Text 28"/>
          <p:cNvSpPr/>
          <p:nvPr/>
        </p:nvSpPr>
        <p:spPr>
          <a:xfrm>
            <a:off x="6409944" y="54041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pPr indent="0" marL="0">
              <a:buNone/>
            </a:pPr>
            <a:r>
              <a:rPr lang="en-US" sz="108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~55-permission matrix maps cleanly to roles and drives both UI and API authorisation.</a:t>
            </a:r>
            <a:endParaRPr lang="en-US" sz="10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· 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Supply-Chain &amp; Inventory Management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Inflow's layered, modular design makes the following natural next steps.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64008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33172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80" y="2489728"/>
            <a:ext cx="269199" cy="26919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" y="30632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Barcode &amp; QR scanning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4672" y="347472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receiving, counting and sales with hardware scanning.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88536" y="2057400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88536" y="2057400"/>
            <a:ext cx="6400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4544568" y="23317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576" y="2489728"/>
            <a:ext cx="269199" cy="26919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44568" y="30632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reorder automation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44568" y="347472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purchase orders when stock hits reorder points.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028432" y="2057400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28432" y="2057400"/>
            <a:ext cx="64008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18"/>
          <p:cNvSpPr/>
          <p:nvPr/>
        </p:nvSpPr>
        <p:spPr>
          <a:xfrm>
            <a:off x="8284464" y="233172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472" y="2489728"/>
            <a:ext cx="269199" cy="26919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84464" y="30632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forecasting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284464" y="347472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sales history to predict demand and optimise stock levels.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4032504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4032504"/>
            <a:ext cx="6400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3"/>
          <p:cNvSpPr/>
          <p:nvPr/>
        </p:nvSpPr>
        <p:spPr>
          <a:xfrm>
            <a:off x="804672" y="4306824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80" y="4464832"/>
            <a:ext cx="269199" cy="26919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04672" y="503834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Accounting &amp; e-commerce APIs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804672" y="5449824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external finance and online-store platforms.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288536" y="4032504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88536" y="4032504"/>
            <a:ext cx="64008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28"/>
          <p:cNvSpPr/>
          <p:nvPr/>
        </p:nvSpPr>
        <p:spPr>
          <a:xfrm>
            <a:off x="4544568" y="4306824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576" y="4464832"/>
            <a:ext cx="269199" cy="269199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544568" y="503834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mobile app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4544568" y="5449824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warehouse-floor companion app for iOS and Android.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8028432" y="4032504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8100000">
              <a:srgbClr val="0B2A3D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028432" y="4032504"/>
            <a:ext cx="6400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Shape 33"/>
          <p:cNvSpPr/>
          <p:nvPr/>
        </p:nvSpPr>
        <p:spPr>
          <a:xfrm>
            <a:off x="8284464" y="4306824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472" y="4464832"/>
            <a:ext cx="269199" cy="269199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284464" y="503834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analytics &amp; ML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8284464" y="5449824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movements and richer BI dashboards.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· REFLECTION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delivers a complete, secure and production-style inventory platform — proving an end-to-end full-stack system from database schema to polished UI.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486400" cy="1554480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25496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2988442"/>
            <a:ext cx="277612" cy="2776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880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delivery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34290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Next.js client and a layered Spring Boot API over a normalised PostgreSQL schema.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153912" y="2514600"/>
            <a:ext cx="5486400" cy="1554480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28232" y="2825496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178" y="2988442"/>
            <a:ext cx="277612" cy="2776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05472" y="2880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&amp; accountable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428232" y="34290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role-based access, audit logs and stock-movement history throughout.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548640" y="4215384"/>
            <a:ext cx="5486400" cy="1554480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4526280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06" y="4689226"/>
            <a:ext cx="277612" cy="2776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5811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operations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2960" y="512978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multi-warehouse stock, sales, purchasing, returns, transfers and reporting.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6153912" y="4215384"/>
            <a:ext cx="5486400" cy="1554480"/>
          </a:xfrm>
          <a:prstGeom prst="rect">
            <a:avLst/>
          </a:prstGeom>
          <a:solidFill>
            <a:srgbClr val="12435E"/>
          </a:solidFill>
          <a:ln w="12700">
            <a:solidFill>
              <a:srgbClr val="24506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28232" y="4526280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178" y="4689226"/>
            <a:ext cx="277612" cy="2776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05472" y="45811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 to last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428232" y="512978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D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testing, CI/CD and Docker deployment — built to extend and maintain.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 ·  Final-Year Graduation Project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5296" y="1207008"/>
            <a:ext cx="1389888" cy="0"/>
          </a:xfrm>
          <a:prstGeom prst="line">
            <a:avLst/>
          </a:prstGeom>
          <a:noFill/>
          <a:ln w="25400">
            <a:solidFill>
              <a:srgbClr val="24506B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236976" y="1207008"/>
            <a:ext cx="1389888" cy="0"/>
          </a:xfrm>
          <a:prstGeom prst="line">
            <a:avLst/>
          </a:prstGeom>
          <a:noFill/>
          <a:ln w="25400">
            <a:solidFill>
              <a:srgbClr val="24506B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5248656" y="1207008"/>
            <a:ext cx="1389888" cy="0"/>
          </a:xfrm>
          <a:prstGeom prst="line">
            <a:avLst/>
          </a:prstGeom>
          <a:noFill/>
          <a:ln w="25400">
            <a:solidFill>
              <a:srgbClr val="24506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260336" y="1207008"/>
            <a:ext cx="1389888" cy="0"/>
          </a:xfrm>
          <a:prstGeom prst="line">
            <a:avLst/>
          </a:prstGeom>
          <a:noFill/>
          <a:ln w="25400">
            <a:solidFill>
              <a:srgbClr val="24506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272016" y="1207008"/>
            <a:ext cx="1389888" cy="0"/>
          </a:xfrm>
          <a:prstGeom prst="line">
            <a:avLst/>
          </a:prstGeom>
          <a:noFill/>
          <a:ln w="25400">
            <a:solidFill>
              <a:srgbClr val="24506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14400" y="105156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0" y="105156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105156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105156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0" y="105156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0" y="105156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688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27448" y="4343400"/>
            <a:ext cx="2743200" cy="0"/>
          </a:xfrm>
          <a:prstGeom prst="line">
            <a:avLst/>
          </a:prstGeom>
          <a:noFill/>
          <a:ln w="19050">
            <a:solidFill>
              <a:srgbClr val="245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26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Ashraf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— Supply-Chain &amp; Inventory Management System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Inflow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Inflow — Inventory Management System</dc:title>
  <dc:subject>PptxGenJS Presentation</dc:subject>
  <dc:creator>Youssef Ashraf</dc:creator>
  <cp:lastModifiedBy>Youssef Ashraf</cp:lastModifiedBy>
  <cp:revision>1</cp:revision>
  <dcterms:created xsi:type="dcterms:W3CDTF">2026-06-21T23:53:54Z</dcterms:created>
  <dcterms:modified xsi:type="dcterms:W3CDTF">2026-06-21T23:53:54Z</dcterms:modified>
</cp:coreProperties>
</file>